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frame the story before any slide detail: this is a real-shaped consulting engagement, not a generic slideshow — a client (FinSecure) had a breach, was non-compliant with three separate financial regulations, and we rebuilt their network and access model in response. Set the tone that every design decision from here on is a direct answer to that starting problem, not a checklist of buzzwords.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 the key thing to land here is the arc: we start from a concrete incident, use it to justify a technical redesign, then show the governance (risk + policy) that makes the redesign durable rather than a one-time fix. That arc is what separates this from a generic 'here are some security controls'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scope-setting: FinSecure is a B2B financial platform, not a consumer bank, so the compliance burden is SOX + PCI DSS + GLBA together, not any single framework in isolation. Flag explicitly that health-sector rules like HIPAA never applied — that boundary matters later when we talk about what's in vs. out of scope for the policy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and technical center of the whole deck — everything downstream (redesign, Zero Trust, policy) exists because of this single incident. Be specific about the mechanism: it wasn't a sophisticated zero-day, it was SQL injection plus default credentials — an entirely preventable chain, which is exactly why the fix is architectural (segmentation, MFA, no default creds) rather than a single patch.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deliberately in this order: compliance is the business driver, Zero Trust is the technical mechanism, and the policy document is what makes it stick after the consultants leave. The in/out-of-scope box exists because scope creep is the most common way capstone-style engagements lose focus — call out explicitly that HIPAA was never relevant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why all three methods were used together rather than just one: automated scanning is fast but shallow, manual pentesting is slow but proves real exploitability, and the compliance audit catches process/policy gaps neither tool can see (like improper segmentation). Findings from each method corroborated the others — e.g. the WAF log pattern (audit/monitoring) matched exactly the endpoint Metasploit confirmed was exploitable.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mockups — this is the group's own Kali Linux workstation scanning the group's own deployed FinSWebApp instance on Azure App Service. Left to right: the actual application under test, then Nmap confirming the external attack surface is small (just 80/443) with a valid cert, then OWASP ZAP's automated scan — which is what actually caught the missing security headers and outdated JS library, lower-severity than the SQL injection in the incident narrative but the same 'hardening skipped under deadline pressure' pattern. This slide exists to show the audience the methodology wasn't just described — it was actually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across the diagram — this reconstructed path is built directly from SIEM anomalies, WAF log correlation, and Wireshark traffic analysis, not assumption. The three vulnerability tags below map one-to-one onto the four path stages: SQL injection is the entry, XSS is a related web-app weakness found in the same testing pass, and the weak SFTP auth is what turned a single compromised endpoint into full lateral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 half of the before/after pair — don't over-explain the diagram, just point out there is exactly one firewall between the internet and the cardholder database. That single fact is the through-line to the next slide: everything in the redesign is aimed at replacing this one choke point with multiple independent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improvements list on the left isn't decorative — each line is a direct fix for one of the four 'before' weaknesses on the previous slide. Point out specifically that the cardholder database now sits behind an *additional* dedicated firewall inside the Database Zone — that's the fix for the PCI-DSS wording issue in the original report, where the database was incorrectly described as being 'within the DMZ.'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principle as the earlier live-evidence slide: these are screenshots of the group's own Azure subscription, not mockups — the resource names (Fin-SecureVnet, FinSecureVault, finsecure_primary) are the actual deployed resources built for the Cloud Migration module of this project. Point out that each one maps directly onto a control already shown in the on-prem redesign: the VNet is the cloud-side network segmentation, Key Vault and TDE are the encryption/secrets layer, and the WAF policy is the cloud counterpart to the dual on-prem WAFs. This is the bridge between the network diagrams and the actual infrastructure work the group did in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point of this slide: none of SOX, PCI DSS, or GLBA say the words 'Zero Trust' anywhere in their text — but read literally, each one's actual requirement points straight at it. This reframes Zero Trust from 'a trendy architecture we picked' to 'the natural consequence of taking these three regulations seriously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diagram left to right: every single request — employee, remote VPN session, or the GlobalTech B2B connection — goes through the same four gates. The critical detail is the dashed feedback loop at the bottom: posture and behavior are re-checked continuously, so a device that was fine at login but starts behaving oddly an hour later gets caught, not just trusted until the next login.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risks rated Extreme out of the full eighteen-item register — don't read the table line by line, instead point out the pattern: every single one of these five is directly addressed by a control we already showed in the redesign or the Zero Trust rollout. The risk register isn't a separate compliance exercise bolted on afterward — it's the scoring system that justified the architecture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these five rows — Remote Access &amp; Removable Media, and Third-Party/Vendor Risk Management — were things the original report described in prose elsewhere but never actually wrote down as governing policy sections. Closing that gap matters practically: 'we do this' in a narrative report doesn't survive an audit the way a numbered, versioned policy section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as a timeline, not a list — the order matters: contain first to stop ongoing exfiltration, then investigate, and notification happens in parallel with recovery, not after it, because GLBA and client trust both demand speed. The lessons-learned line at the bottom is the bridge back to everything earlier in the deck — this incident is the reason the redesign, Zero Trust rollout, and policy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where we ended up, right side is where FinSecure needs to keep going — make clear that compliance here is a status achieved through this project, not a permanent state; the right column exists because Zero Trust and regulatory alignment both degrade if nobody keeps maintaining them. The 'close the non-SSO gap' item is a specific, honest loose end we flagged rather than papering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reiterating the single sentence that ties the whole deck together: a preventable breach exposed both a technical gap and a compliance gap, and this project closed both at once by rebuilding the network around Zero Trust rather than patching the original flaw in isolation.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4F6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280160"/>
            <a:ext cx="4114800" cy="4114800"/>
          </a:xfrm>
          <a:prstGeom prst="ellipse">
            <a:avLst/>
          </a:prstGeom>
          <a:solidFill>
            <a:srgbClr val="3B4A9E">
              <a:alpha val="60000"/>
            </a:srgbClr>
          </a:solidFill>
          <a:ln/>
        </p:spPr>
      </p:sp>
      <p:sp>
        <p:nvSpPr>
          <p:cNvPr id="3" name="Shape 1"/>
          <p:cNvSpPr/>
          <p:nvPr/>
        </p:nvSpPr>
        <p:spPr>
          <a:xfrm>
            <a:off x="-1463040" y="4572000"/>
            <a:ext cx="3291840" cy="3291840"/>
          </a:xfrm>
          <a:prstGeom prst="ellipse">
            <a:avLst/>
          </a:prstGeom>
          <a:solidFill>
            <a:srgbClr val="3B4A9E">
              <a:alpha val="45000"/>
            </a:srgbClr>
          </a:solidFill>
          <a:ln/>
        </p:spPr>
      </p:sp>
      <p:sp>
        <p:nvSpPr>
          <p:cNvPr id="4" name="Text 2"/>
          <p:cNvSpPr txBox="1"/>
          <p:nvPr/>
        </p:nvSpPr>
        <p:spPr>
          <a:xfrm>
            <a:off x="822960" y="1417320"/>
            <a:ext cx="9144000" cy="365760"/>
          </a:xfrm>
          <a:prstGeom prst="rect">
            <a:avLst/>
          </a:prstGeom>
          <a:noFill/>
          <a:ln/>
        </p:spPr>
        <p:txBody>
          <a:bodyPr wrap="square" rtlCol="0" anchor="ctr"/>
          <a:lstStyle/>
          <a:p>
            <a:pPr indent="0" marL="0">
              <a:buNone/>
            </a:pPr>
            <a:r>
              <a:rPr lang="en-US" sz="1400" b="1" spc="200" kern="0" dirty="0">
                <a:solidFill>
                  <a:srgbClr val="CADCFC"/>
                </a:solidFill>
                <a:latin typeface="Calibri" pitchFamily="34" charset="0"/>
                <a:ea typeface="Calibri" pitchFamily="34" charset="-122"/>
                <a:cs typeface="Calibri" pitchFamily="34" charset="-120"/>
              </a:rPr>
              <a:t>CASE STUDY · NETWORK SECURITY CAPSTONE</a:t>
            </a:r>
            <a:endParaRPr lang="en-US" sz="1400" dirty="0"/>
          </a:p>
        </p:txBody>
      </p:sp>
      <p:sp>
        <p:nvSpPr>
          <p:cNvPr id="5" name="Text 3"/>
          <p:cNvSpPr txBox="1"/>
          <p:nvPr/>
        </p:nvSpPr>
        <p:spPr>
          <a:xfrm>
            <a:off x="822960" y="1874520"/>
            <a:ext cx="10241280" cy="1828800"/>
          </a:xfrm>
          <a:prstGeom prst="rect">
            <a:avLst/>
          </a:prstGeom>
          <a:noFill/>
          <a:ln/>
        </p:spPr>
        <p:txBody>
          <a:bodyPr wrap="square"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Fortifying B2B Network Security</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for Regulatory Compliance</a:t>
            </a:r>
            <a:endParaRPr lang="en-US" sz="4000" dirty="0"/>
          </a:p>
        </p:txBody>
      </p:sp>
      <p:sp>
        <p:nvSpPr>
          <p:cNvPr id="6" name="Text 4"/>
          <p:cNvSpPr txBox="1"/>
          <p:nvPr/>
        </p:nvSpPr>
        <p:spPr>
          <a:xfrm>
            <a:off x="822960" y="3611880"/>
            <a:ext cx="9144000" cy="45720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A FinSecure Technologies Inc. Case Study</a:t>
            </a:r>
            <a:endParaRPr lang="en-US" sz="1800" dirty="0"/>
          </a:p>
        </p:txBody>
      </p:sp>
      <p:sp>
        <p:nvSpPr>
          <p:cNvPr id="7" name="Shape 5"/>
          <p:cNvSpPr/>
          <p:nvPr/>
        </p:nvSpPr>
        <p:spPr>
          <a:xfrm>
            <a:off x="822960" y="5257800"/>
            <a:ext cx="5669280" cy="1051560"/>
          </a:xfrm>
          <a:prstGeom prst="rect">
            <a:avLst>
              <a:gd name="adj" fmla="val 6957"/>
            </a:avLst>
          </a:prstGeom>
          <a:solidFill>
            <a:srgbClr val="3B4A9E">
              <a:alpha val="70000"/>
            </a:srgbClr>
          </a:solidFill>
          <a:ln/>
        </p:spPr>
      </p:sp>
      <p:sp>
        <p:nvSpPr>
          <p:cNvPr id="8" name="Text 6"/>
          <p:cNvSpPr txBox="1"/>
          <p:nvPr/>
        </p:nvSpPr>
        <p:spPr>
          <a:xfrm>
            <a:off x="1051560" y="5376672"/>
            <a:ext cx="5303520" cy="8686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Group 3</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Case Studies, Issues &amp; Capstone Project in Network Security</a:t>
            </a: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University of Winnipeg · Prof. Victor Balogun · Fall 2024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548640" y="1810512"/>
            <a:ext cx="548640" cy="548640"/>
          </a:xfrm>
          <a:prstGeom prst="ellipse">
            <a:avLst/>
          </a:prstGeom>
          <a:solidFill>
            <a:srgbClr val="1E2761"/>
          </a:solidFill>
          <a:ln/>
        </p:spPr>
      </p:sp>
      <p:sp>
        <p:nvSpPr>
          <p:cNvPr id="5" name="Text 3"/>
          <p:cNvSpPr txBox="1"/>
          <p:nvPr/>
        </p:nvSpPr>
        <p:spPr>
          <a:xfrm>
            <a:off x="548640" y="181051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6" name="Text 4"/>
          <p:cNvSpPr txBox="1"/>
          <p:nvPr/>
        </p:nvSpPr>
        <p:spPr>
          <a:xfrm>
            <a:off x="1234440" y="173736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Client Background</a:t>
            </a:r>
            <a:endParaRPr lang="en-US" sz="1500" dirty="0"/>
          </a:p>
        </p:txBody>
      </p:sp>
      <p:sp>
        <p:nvSpPr>
          <p:cNvPr id="7" name="Text 5"/>
          <p:cNvSpPr txBox="1"/>
          <p:nvPr/>
        </p:nvSpPr>
        <p:spPr>
          <a:xfrm>
            <a:off x="1234440" y="208483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Who FinSecure is and why the stakes are high</a:t>
            </a:r>
            <a:endParaRPr lang="en-US" sz="1150" dirty="0"/>
          </a:p>
        </p:txBody>
      </p:sp>
      <p:sp>
        <p:nvSpPr>
          <p:cNvPr id="8" name="Shape 6"/>
          <p:cNvSpPr/>
          <p:nvPr/>
        </p:nvSpPr>
        <p:spPr>
          <a:xfrm>
            <a:off x="548640" y="2862072"/>
            <a:ext cx="548640" cy="548640"/>
          </a:xfrm>
          <a:prstGeom prst="ellipse">
            <a:avLst/>
          </a:prstGeom>
          <a:solidFill>
            <a:srgbClr val="1E2761"/>
          </a:solidFill>
          <a:ln/>
        </p:spPr>
      </p:sp>
      <p:sp>
        <p:nvSpPr>
          <p:cNvPr id="9" name="Text 7"/>
          <p:cNvSpPr txBox="1"/>
          <p:nvPr/>
        </p:nvSpPr>
        <p:spPr>
          <a:xfrm>
            <a:off x="548640" y="286207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0" name="Text 8"/>
          <p:cNvSpPr txBox="1"/>
          <p:nvPr/>
        </p:nvSpPr>
        <p:spPr>
          <a:xfrm>
            <a:off x="1234440" y="278892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The Breach</a:t>
            </a:r>
            <a:endParaRPr lang="en-US" sz="1500" dirty="0"/>
          </a:p>
        </p:txBody>
      </p:sp>
      <p:sp>
        <p:nvSpPr>
          <p:cNvPr id="11" name="Text 9"/>
          <p:cNvSpPr txBox="1"/>
          <p:nvPr/>
        </p:nvSpPr>
        <p:spPr>
          <a:xfrm>
            <a:off x="1234440" y="313639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What happened on October 3, 2024</a:t>
            </a:r>
            <a:endParaRPr lang="en-US" sz="1150" dirty="0"/>
          </a:p>
        </p:txBody>
      </p:sp>
      <p:sp>
        <p:nvSpPr>
          <p:cNvPr id="12" name="Shape 10"/>
          <p:cNvSpPr/>
          <p:nvPr/>
        </p:nvSpPr>
        <p:spPr>
          <a:xfrm>
            <a:off x="548640" y="3913632"/>
            <a:ext cx="548640" cy="548640"/>
          </a:xfrm>
          <a:prstGeom prst="ellipse">
            <a:avLst/>
          </a:prstGeom>
          <a:solidFill>
            <a:srgbClr val="1E2761"/>
          </a:solidFill>
          <a:ln/>
        </p:spPr>
      </p:sp>
      <p:sp>
        <p:nvSpPr>
          <p:cNvPr id="13" name="Text 11"/>
          <p:cNvSpPr txBox="1"/>
          <p:nvPr/>
        </p:nvSpPr>
        <p:spPr>
          <a:xfrm>
            <a:off x="548640" y="391363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4" name="Text 12"/>
          <p:cNvSpPr txBox="1"/>
          <p:nvPr/>
        </p:nvSpPr>
        <p:spPr>
          <a:xfrm>
            <a:off x="1234440" y="384048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Methodology</a:t>
            </a:r>
            <a:endParaRPr lang="en-US" sz="1500" dirty="0"/>
          </a:p>
        </p:txBody>
      </p:sp>
      <p:sp>
        <p:nvSpPr>
          <p:cNvPr id="15" name="Text 13"/>
          <p:cNvSpPr txBox="1"/>
          <p:nvPr/>
        </p:nvSpPr>
        <p:spPr>
          <a:xfrm>
            <a:off x="1234440" y="418795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How we investigated it</a:t>
            </a:r>
            <a:endParaRPr lang="en-US" sz="1150" dirty="0"/>
          </a:p>
        </p:txBody>
      </p:sp>
      <p:sp>
        <p:nvSpPr>
          <p:cNvPr id="16" name="Shape 14"/>
          <p:cNvSpPr/>
          <p:nvPr/>
        </p:nvSpPr>
        <p:spPr>
          <a:xfrm>
            <a:off x="548640" y="4965192"/>
            <a:ext cx="548640" cy="548640"/>
          </a:xfrm>
          <a:prstGeom prst="ellipse">
            <a:avLst/>
          </a:prstGeom>
          <a:solidFill>
            <a:srgbClr val="1E2761"/>
          </a:solidFill>
          <a:ln/>
        </p:spPr>
      </p:sp>
      <p:sp>
        <p:nvSpPr>
          <p:cNvPr id="17" name="Text 15"/>
          <p:cNvSpPr txBox="1"/>
          <p:nvPr/>
        </p:nvSpPr>
        <p:spPr>
          <a:xfrm>
            <a:off x="548640" y="496519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18" name="Text 16"/>
          <p:cNvSpPr txBox="1"/>
          <p:nvPr/>
        </p:nvSpPr>
        <p:spPr>
          <a:xfrm>
            <a:off x="1234440" y="489204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Network Redesign</a:t>
            </a:r>
            <a:endParaRPr lang="en-US" sz="1500" dirty="0"/>
          </a:p>
        </p:txBody>
      </p:sp>
      <p:sp>
        <p:nvSpPr>
          <p:cNvPr id="19" name="Text 17"/>
          <p:cNvSpPr txBox="1"/>
          <p:nvPr/>
        </p:nvSpPr>
        <p:spPr>
          <a:xfrm>
            <a:off x="1234440" y="523951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Before vs. after architecture</a:t>
            </a:r>
            <a:endParaRPr lang="en-US" sz="1150" dirty="0"/>
          </a:p>
        </p:txBody>
      </p:sp>
      <p:sp>
        <p:nvSpPr>
          <p:cNvPr id="20" name="Shape 18"/>
          <p:cNvSpPr/>
          <p:nvPr/>
        </p:nvSpPr>
        <p:spPr>
          <a:xfrm>
            <a:off x="6355080" y="1810512"/>
            <a:ext cx="548640" cy="548640"/>
          </a:xfrm>
          <a:prstGeom prst="ellipse">
            <a:avLst/>
          </a:prstGeom>
          <a:solidFill>
            <a:srgbClr val="1E2761"/>
          </a:solidFill>
          <a:ln/>
        </p:spPr>
      </p:sp>
      <p:sp>
        <p:nvSpPr>
          <p:cNvPr id="21" name="Text 19"/>
          <p:cNvSpPr txBox="1"/>
          <p:nvPr/>
        </p:nvSpPr>
        <p:spPr>
          <a:xfrm>
            <a:off x="6355080" y="181051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22" name="Text 20"/>
          <p:cNvSpPr txBox="1"/>
          <p:nvPr/>
        </p:nvSpPr>
        <p:spPr>
          <a:xfrm>
            <a:off x="7040880" y="173736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Zero Trust</a:t>
            </a:r>
            <a:endParaRPr lang="en-US" sz="1500" dirty="0"/>
          </a:p>
        </p:txBody>
      </p:sp>
      <p:sp>
        <p:nvSpPr>
          <p:cNvPr id="23" name="Text 21"/>
          <p:cNvSpPr txBox="1"/>
          <p:nvPr/>
        </p:nvSpPr>
        <p:spPr>
          <a:xfrm>
            <a:off x="7040880" y="208483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Why and how we rebuilt access control</a:t>
            </a:r>
            <a:endParaRPr lang="en-US" sz="1150" dirty="0"/>
          </a:p>
        </p:txBody>
      </p:sp>
      <p:sp>
        <p:nvSpPr>
          <p:cNvPr id="24" name="Shape 22"/>
          <p:cNvSpPr/>
          <p:nvPr/>
        </p:nvSpPr>
        <p:spPr>
          <a:xfrm>
            <a:off x="6355080" y="2862072"/>
            <a:ext cx="548640" cy="548640"/>
          </a:xfrm>
          <a:prstGeom prst="ellipse">
            <a:avLst/>
          </a:prstGeom>
          <a:solidFill>
            <a:srgbClr val="1E2761"/>
          </a:solidFill>
          <a:ln/>
        </p:spPr>
      </p:sp>
      <p:sp>
        <p:nvSpPr>
          <p:cNvPr id="25" name="Text 23"/>
          <p:cNvSpPr txBox="1"/>
          <p:nvPr/>
        </p:nvSpPr>
        <p:spPr>
          <a:xfrm>
            <a:off x="6355080" y="286207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06</a:t>
            </a:r>
            <a:endParaRPr lang="en-US" sz="1600" dirty="0"/>
          </a:p>
        </p:txBody>
      </p:sp>
      <p:sp>
        <p:nvSpPr>
          <p:cNvPr id="26" name="Text 24"/>
          <p:cNvSpPr txBox="1"/>
          <p:nvPr/>
        </p:nvSpPr>
        <p:spPr>
          <a:xfrm>
            <a:off x="7040880" y="278892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Risk &amp; Policy</a:t>
            </a:r>
            <a:endParaRPr lang="en-US" sz="1500" dirty="0"/>
          </a:p>
        </p:txBody>
      </p:sp>
      <p:sp>
        <p:nvSpPr>
          <p:cNvPr id="27" name="Text 25"/>
          <p:cNvSpPr txBox="1"/>
          <p:nvPr/>
        </p:nvSpPr>
        <p:spPr>
          <a:xfrm>
            <a:off x="7040880" y="313639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What governs the network now</a:t>
            </a:r>
            <a:endParaRPr lang="en-US" sz="1150" dirty="0"/>
          </a:p>
        </p:txBody>
      </p:sp>
      <p:sp>
        <p:nvSpPr>
          <p:cNvPr id="28" name="Shape 26"/>
          <p:cNvSpPr/>
          <p:nvPr/>
        </p:nvSpPr>
        <p:spPr>
          <a:xfrm>
            <a:off x="6355080" y="3913632"/>
            <a:ext cx="548640" cy="548640"/>
          </a:xfrm>
          <a:prstGeom prst="ellipse">
            <a:avLst/>
          </a:prstGeom>
          <a:solidFill>
            <a:srgbClr val="1E2761"/>
          </a:solidFill>
          <a:ln/>
        </p:spPr>
      </p:sp>
      <p:sp>
        <p:nvSpPr>
          <p:cNvPr id="29" name="Text 27"/>
          <p:cNvSpPr txBox="1"/>
          <p:nvPr/>
        </p:nvSpPr>
        <p:spPr>
          <a:xfrm>
            <a:off x="6355080" y="391363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07</a:t>
            </a:r>
            <a:endParaRPr lang="en-US" sz="1600" dirty="0"/>
          </a:p>
        </p:txBody>
      </p:sp>
      <p:sp>
        <p:nvSpPr>
          <p:cNvPr id="30" name="Text 28"/>
          <p:cNvSpPr txBox="1"/>
          <p:nvPr/>
        </p:nvSpPr>
        <p:spPr>
          <a:xfrm>
            <a:off x="7040880" y="384048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Incident Response</a:t>
            </a:r>
            <a:endParaRPr lang="en-US" sz="1500" dirty="0"/>
          </a:p>
        </p:txBody>
      </p:sp>
      <p:sp>
        <p:nvSpPr>
          <p:cNvPr id="31" name="Text 29"/>
          <p:cNvSpPr txBox="1"/>
          <p:nvPr/>
        </p:nvSpPr>
        <p:spPr>
          <a:xfrm>
            <a:off x="7040880" y="418795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How we responded, and what we learned</a:t>
            </a:r>
            <a:endParaRPr lang="en-US" sz="1150" dirty="0"/>
          </a:p>
        </p:txBody>
      </p:sp>
      <p:sp>
        <p:nvSpPr>
          <p:cNvPr id="32" name="Shape 30"/>
          <p:cNvSpPr/>
          <p:nvPr/>
        </p:nvSpPr>
        <p:spPr>
          <a:xfrm>
            <a:off x="6355080" y="4965192"/>
            <a:ext cx="548640" cy="548640"/>
          </a:xfrm>
          <a:prstGeom prst="ellipse">
            <a:avLst/>
          </a:prstGeom>
          <a:solidFill>
            <a:srgbClr val="1E2761"/>
          </a:solidFill>
          <a:ln/>
        </p:spPr>
      </p:sp>
      <p:sp>
        <p:nvSpPr>
          <p:cNvPr id="33" name="Text 31"/>
          <p:cNvSpPr txBox="1"/>
          <p:nvPr/>
        </p:nvSpPr>
        <p:spPr>
          <a:xfrm>
            <a:off x="6355080" y="4965192"/>
            <a:ext cx="548640" cy="54864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08</a:t>
            </a:r>
            <a:endParaRPr lang="en-US" sz="1600" dirty="0"/>
          </a:p>
        </p:txBody>
      </p:sp>
      <p:sp>
        <p:nvSpPr>
          <p:cNvPr id="34" name="Text 32"/>
          <p:cNvSpPr txBox="1"/>
          <p:nvPr/>
        </p:nvSpPr>
        <p:spPr>
          <a:xfrm>
            <a:off x="7040880" y="4892040"/>
            <a:ext cx="4617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Results</a:t>
            </a:r>
            <a:endParaRPr lang="en-US" sz="1500" dirty="0"/>
          </a:p>
        </p:txBody>
      </p:sp>
      <p:sp>
        <p:nvSpPr>
          <p:cNvPr id="35" name="Text 33"/>
          <p:cNvSpPr txBox="1"/>
          <p:nvPr/>
        </p:nvSpPr>
        <p:spPr>
          <a:xfrm>
            <a:off x="7040880" y="5239512"/>
            <a:ext cx="4617720" cy="50292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Compliance achieved &amp; what's next</a:t>
            </a:r>
            <a:endParaRPr lang="en-US" sz="1150" dirty="0"/>
          </a:p>
        </p:txBody>
      </p:sp>
      <p:sp>
        <p:nvSpPr>
          <p:cNvPr id="36" name="Text 34"/>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37" name="Text 35"/>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CLIENT BACKGROUND</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FinSecure Technologies Inc.</a:t>
            </a:r>
            <a:endParaRPr lang="en-US" sz="3200" dirty="0"/>
          </a:p>
        </p:txBody>
      </p:sp>
      <p:sp>
        <p:nvSpPr>
          <p:cNvPr id="4" name="Text 2"/>
          <p:cNvSpPr txBox="1"/>
          <p:nvPr/>
        </p:nvSpPr>
        <p:spPr>
          <a:xfrm>
            <a:off x="548640" y="1737360"/>
            <a:ext cx="5760720" cy="1188720"/>
          </a:xfrm>
          <a:prstGeom prst="rect">
            <a:avLst/>
          </a:prstGeom>
          <a:noFill/>
          <a:ln/>
        </p:spPr>
        <p:txBody>
          <a:bodyPr wrap="square" rtlCol="0" anchor="ctr"/>
          <a:lstStyle/>
          <a:p>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A New York City-headquartered financial services firm </a:t>
            </a:r>
            <a:pPr indent="0" marL="0">
              <a:lnSpc>
                <a:spcPct val="125000"/>
              </a:lnSpc>
              <a:buNone/>
            </a:pPr>
            <a:r>
              <a:rPr lang="en-US" sz="1500" dirty="0">
                <a:solidFill>
                  <a:srgbClr val="1A1A1A"/>
                </a:solidFill>
                <a:latin typeface="Calibri" pitchFamily="34" charset="0"/>
                <a:ea typeface="Calibri" pitchFamily="34" charset="-122"/>
                <a:cs typeface="Calibri" pitchFamily="34" charset="-120"/>
              </a:rPr>
              <a:t>hosting financial services and software-based web applications for a diverse B2B client base.</a:t>
            </a:r>
            <a:endParaRPr lang="en-US" sz="1500" dirty="0"/>
          </a:p>
        </p:txBody>
      </p:sp>
      <p:sp>
        <p:nvSpPr>
          <p:cNvPr id="5" name="Text 3"/>
          <p:cNvSpPr txBox="1"/>
          <p:nvPr/>
        </p:nvSpPr>
        <p:spPr>
          <a:xfrm>
            <a:off x="548640" y="3063240"/>
            <a:ext cx="5760720" cy="2926080"/>
          </a:xfrm>
          <a:prstGeom prst="rect">
            <a:avLst/>
          </a:prstGeom>
          <a:noFill/>
          <a:ln/>
        </p:spPr>
        <p:txBody>
          <a:bodyPr wrap="square" rtlCol="0" anchor="ctr"/>
          <a:lstStyle/>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Flagship client: GlobalTech Industries, a publicly traded multinational conglomerate</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Serves finance firms, e-commerce companies, government agencies, and publicly traded companies</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Explicitly does not serve the health sector — HIPAA is out of scope</a:t>
            </a:r>
            <a:endParaRPr lang="en-US" sz="1300" dirty="0"/>
          </a:p>
          <a:p>
            <a:pPr marL="342900" indent="-342900">
              <a:spcAft>
                <a:spcPts val="1000"/>
              </a:spcAft>
              <a:buSzPct val="100000"/>
              <a:buChar char="•"/>
            </a:pPr>
            <a:r>
              <a:rPr lang="en-US" sz="1300" dirty="0">
                <a:solidFill>
                  <a:srgbClr val="1A1A1A"/>
                </a:solidFill>
                <a:latin typeface="Calibri" pitchFamily="34" charset="0"/>
                <a:ea typeface="Calibri" pitchFamily="34" charset="-122"/>
                <a:cs typeface="Calibri" pitchFamily="34" charset="-120"/>
              </a:rPr>
              <a:t>Infrastructure: Active Directory, public web servers, PostgreSQL, Redis cache, SFTP file transfer</a:t>
            </a:r>
            <a:endParaRPr lang="en-US" sz="1300" dirty="0"/>
          </a:p>
        </p:txBody>
      </p:sp>
      <p:sp>
        <p:nvSpPr>
          <p:cNvPr id="6" name="Shape 4"/>
          <p:cNvSpPr/>
          <p:nvPr/>
        </p:nvSpPr>
        <p:spPr>
          <a:xfrm>
            <a:off x="6766560" y="1737360"/>
            <a:ext cx="4846320" cy="1371600"/>
          </a:xfrm>
          <a:prstGeom prst="rect">
            <a:avLst>
              <a:gd name="adj" fmla="val 5333"/>
            </a:avLst>
          </a:prstGeom>
          <a:solidFill>
            <a:srgbClr val="FFFFFF"/>
          </a:solidFill>
          <a:ln w="12700">
            <a:solidFill>
              <a:srgbClr val="CADCFC"/>
            </a:solidFill>
            <a:prstDash val="solid"/>
          </a:ln>
          <a:effectLst>
            <a:outerShdw sx="100000" sy="100000" kx="0" ky="0" algn="bl" rotWithShape="0" blurRad="76200" dist="25400" dir="5400000">
              <a:srgbClr val="9AA5C7">
                <a:alpha val="35000"/>
              </a:srgbClr>
            </a:outerShdw>
          </a:effectLst>
        </p:spPr>
      </p:sp>
      <p:sp>
        <p:nvSpPr>
          <p:cNvPr id="7" name="Text 5"/>
          <p:cNvSpPr txBox="1"/>
          <p:nvPr/>
        </p:nvSpPr>
        <p:spPr>
          <a:xfrm>
            <a:off x="6995160" y="1874520"/>
            <a:ext cx="1188720" cy="109728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3</a:t>
            </a:r>
            <a:endParaRPr lang="en-US" sz="4400" dirty="0"/>
          </a:p>
        </p:txBody>
      </p:sp>
      <p:sp>
        <p:nvSpPr>
          <p:cNvPr id="8" name="Text 6"/>
          <p:cNvSpPr txBox="1"/>
          <p:nvPr/>
        </p:nvSpPr>
        <p:spPr>
          <a:xfrm>
            <a:off x="8275320" y="1874520"/>
            <a:ext cx="3200400" cy="10972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Regulations to satisfy</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(SOX · PCI DSS · GLBA)</a:t>
            </a:r>
            <a:endParaRPr lang="en-US" sz="1300" dirty="0"/>
          </a:p>
        </p:txBody>
      </p:sp>
      <p:sp>
        <p:nvSpPr>
          <p:cNvPr id="9" name="Shape 7"/>
          <p:cNvSpPr/>
          <p:nvPr/>
        </p:nvSpPr>
        <p:spPr>
          <a:xfrm>
            <a:off x="6766560" y="3337560"/>
            <a:ext cx="4846320" cy="1371600"/>
          </a:xfrm>
          <a:prstGeom prst="rect">
            <a:avLst>
              <a:gd name="adj" fmla="val 5333"/>
            </a:avLst>
          </a:prstGeom>
          <a:solidFill>
            <a:srgbClr val="FFFFFF"/>
          </a:solidFill>
          <a:ln w="12700">
            <a:solidFill>
              <a:srgbClr val="CADCFC"/>
            </a:solidFill>
            <a:prstDash val="solid"/>
          </a:ln>
          <a:effectLst>
            <a:outerShdw sx="100000" sy="100000" kx="0" ky="0" algn="bl" rotWithShape="0" blurRad="76200" dist="25400" dir="5400000">
              <a:srgbClr val="9AA5C7">
                <a:alpha val="35000"/>
              </a:srgbClr>
            </a:outerShdw>
          </a:effectLst>
        </p:spPr>
      </p:sp>
      <p:sp>
        <p:nvSpPr>
          <p:cNvPr id="10" name="Text 8"/>
          <p:cNvSpPr txBox="1"/>
          <p:nvPr/>
        </p:nvSpPr>
        <p:spPr>
          <a:xfrm>
            <a:off x="6995160" y="3474720"/>
            <a:ext cx="1188720" cy="109728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0</a:t>
            </a:r>
            <a:endParaRPr lang="en-US" sz="4400" dirty="0"/>
          </a:p>
        </p:txBody>
      </p:sp>
      <p:sp>
        <p:nvSpPr>
          <p:cNvPr id="11" name="Text 9"/>
          <p:cNvSpPr txBox="1"/>
          <p:nvPr/>
        </p:nvSpPr>
        <p:spPr>
          <a:xfrm>
            <a:off x="8275320" y="3474720"/>
            <a:ext cx="3200400" cy="10972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Health-sector clients</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(HIPAA out of scope)</a:t>
            </a:r>
            <a:endParaRPr lang="en-US" sz="1300" dirty="0"/>
          </a:p>
        </p:txBody>
      </p:sp>
      <p:sp>
        <p:nvSpPr>
          <p:cNvPr id="12" name="Shape 10"/>
          <p:cNvSpPr/>
          <p:nvPr/>
        </p:nvSpPr>
        <p:spPr>
          <a:xfrm>
            <a:off x="6766560" y="4937760"/>
            <a:ext cx="4846320" cy="1371600"/>
          </a:xfrm>
          <a:prstGeom prst="rect">
            <a:avLst>
              <a:gd name="adj" fmla="val 5333"/>
            </a:avLst>
          </a:prstGeom>
          <a:solidFill>
            <a:srgbClr val="FFFFFF"/>
          </a:solidFill>
          <a:ln w="12700">
            <a:solidFill>
              <a:srgbClr val="CADCFC"/>
            </a:solidFill>
            <a:prstDash val="solid"/>
          </a:ln>
          <a:effectLst>
            <a:outerShdw sx="100000" sy="100000" kx="0" ky="0" algn="bl" rotWithShape="0" blurRad="76200" dist="25400" dir="5400000">
              <a:srgbClr val="9AA5C7">
                <a:alpha val="35000"/>
              </a:srgbClr>
            </a:outerShdw>
          </a:effectLst>
        </p:spPr>
      </p:sp>
      <p:sp>
        <p:nvSpPr>
          <p:cNvPr id="13" name="Text 11"/>
          <p:cNvSpPr txBox="1"/>
          <p:nvPr/>
        </p:nvSpPr>
        <p:spPr>
          <a:xfrm>
            <a:off x="6995160" y="5074920"/>
            <a:ext cx="1188720" cy="1097280"/>
          </a:xfrm>
          <a:prstGeom prst="rect">
            <a:avLst/>
          </a:prstGeom>
          <a:noFill/>
          <a:ln/>
        </p:spPr>
        <p:txBody>
          <a:bodyPr wrap="square" lIns="0" tIns="0" rIns="0" bIns="0"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1</a:t>
            </a:r>
            <a:endParaRPr lang="en-US" sz="4400" dirty="0"/>
          </a:p>
        </p:txBody>
      </p:sp>
      <p:sp>
        <p:nvSpPr>
          <p:cNvPr id="14" name="Text 12"/>
          <p:cNvSpPr txBox="1"/>
          <p:nvPr/>
        </p:nvSpPr>
        <p:spPr>
          <a:xfrm>
            <a:off x="8275320" y="5074920"/>
            <a:ext cx="3200400" cy="109728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Confirmed breach that</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triggered this engagement</a:t>
            </a:r>
            <a:endParaRPr lang="en-US" sz="1300" dirty="0"/>
          </a:p>
        </p:txBody>
      </p:sp>
      <p:sp>
        <p:nvSpPr>
          <p:cNvPr id="15" name="Text 13"/>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6" name="Text 14"/>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658368"/>
            <a:ext cx="109728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Confirmed Breach — and a Compliance Gap</a:t>
            </a:r>
            <a:endParaRPr lang="en-US" sz="3000" dirty="0"/>
          </a:p>
        </p:txBody>
      </p:sp>
      <p:sp>
        <p:nvSpPr>
          <p:cNvPr id="4" name="Shape 2"/>
          <p:cNvSpPr/>
          <p:nvPr/>
        </p:nvSpPr>
        <p:spPr>
          <a:xfrm>
            <a:off x="548640" y="1737360"/>
            <a:ext cx="3657600" cy="3566160"/>
          </a:xfrm>
          <a:prstGeom prst="rect">
            <a:avLst>
              <a:gd name="adj" fmla="val 2564"/>
            </a:avLst>
          </a:prstGeom>
          <a:solidFill>
            <a:srgbClr val="3B4A9E">
              <a:alpha val="75000"/>
            </a:srgbClr>
          </a:solidFill>
          <a:ln/>
        </p:spPr>
      </p:sp>
      <p:sp>
        <p:nvSpPr>
          <p:cNvPr id="5" name="Text 3"/>
          <p:cNvSpPr txBox="1"/>
          <p:nvPr/>
        </p:nvSpPr>
        <p:spPr>
          <a:xfrm>
            <a:off x="822960" y="2286000"/>
            <a:ext cx="310896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October 3</a:t>
            </a:r>
            <a:endParaRPr lang="en-US" sz="4200" dirty="0"/>
          </a:p>
        </p:txBody>
      </p:sp>
      <p:sp>
        <p:nvSpPr>
          <p:cNvPr id="6" name="Text 4"/>
          <p:cNvSpPr txBox="1"/>
          <p:nvPr/>
        </p:nvSpPr>
        <p:spPr>
          <a:xfrm>
            <a:off x="822960" y="3063240"/>
            <a:ext cx="3108960" cy="640080"/>
          </a:xfrm>
          <a:prstGeom prst="rect">
            <a:avLst/>
          </a:prstGeom>
          <a:noFill/>
          <a:ln/>
        </p:spPr>
        <p:txBody>
          <a:bodyPr wrap="square" lIns="0" tIns="0" rIns="0" bIns="0" rtlCol="0" anchor="ctr"/>
          <a:lstStyle/>
          <a:p>
            <a:pPr indent="0" marL="0">
              <a:buNone/>
            </a:pPr>
            <a:r>
              <a:rPr lang="en-US" sz="2600" dirty="0">
                <a:solidFill>
                  <a:srgbClr val="CADCFC"/>
                </a:solidFill>
                <a:latin typeface="Cambria" pitchFamily="34" charset="0"/>
                <a:ea typeface="Cambria" pitchFamily="34" charset="-122"/>
                <a:cs typeface="Cambria" pitchFamily="34" charset="-120"/>
              </a:rPr>
              <a:t>2024</a:t>
            </a:r>
            <a:endParaRPr lang="en-US" sz="2600" dirty="0"/>
          </a:p>
        </p:txBody>
      </p:sp>
      <p:sp>
        <p:nvSpPr>
          <p:cNvPr id="7" name="Text 5"/>
          <p:cNvSpPr txBox="1"/>
          <p:nvPr/>
        </p:nvSpPr>
        <p:spPr>
          <a:xfrm>
            <a:off x="822960" y="3794760"/>
            <a:ext cx="3108960" cy="128016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Web application server compromised — cardholder data and client PII exposed.</a:t>
            </a:r>
            <a:endParaRPr lang="en-US" sz="1300" dirty="0"/>
          </a:p>
        </p:txBody>
      </p:sp>
      <p:sp>
        <p:nvSpPr>
          <p:cNvPr id="8" name="Text 6"/>
          <p:cNvSpPr txBox="1"/>
          <p:nvPr/>
        </p:nvSpPr>
        <p:spPr>
          <a:xfrm>
            <a:off x="4572000" y="1920240"/>
            <a:ext cx="6949440" cy="3291840"/>
          </a:xfrm>
          <a:prstGeom prst="rect">
            <a:avLst/>
          </a:prstGeom>
          <a:noFill/>
          <a:ln/>
        </p:spPr>
        <p:txBody>
          <a:bodyPr wrap="square" rtlCol="0" anchor="ctr"/>
          <a:lstStyle/>
          <a:p>
            <a:pPr marL="342900" indent="-3429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Not compliant with SOX, PCI DSS, or GLBA at the start of this engagement</a:t>
            </a:r>
            <a:endParaRPr lang="en-US" sz="1500" dirty="0"/>
          </a:p>
          <a:p>
            <a:pPr marL="342900" indent="-3429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Attack entry point: SQL injection against an internally-built web application</a:t>
            </a:r>
            <a:endParaRPr lang="en-US" sz="1500" dirty="0"/>
          </a:p>
          <a:p>
            <a:pPr marL="342900" indent="-3429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Escalated via weak, default SFTP credentials into lateral movement across the network</a:t>
            </a:r>
            <a:endParaRPr lang="en-US" sz="1500" dirty="0"/>
          </a:p>
          <a:p>
            <a:pPr marL="342900" indent="-342900">
              <a:spcAft>
                <a:spcPts val="1400"/>
              </a:spcAft>
              <a:buSzPct val="100000"/>
              <a:buChar char="•"/>
            </a:pPr>
            <a:r>
              <a:rPr lang="en-US" sz="1500" dirty="0">
                <a:solidFill>
                  <a:srgbClr val="FFFFFF"/>
                </a:solidFill>
                <a:latin typeface="Calibri" pitchFamily="34" charset="0"/>
                <a:ea typeface="Calibri" pitchFamily="34" charset="-122"/>
                <a:cs typeface="Calibri" pitchFamily="34" charset="-120"/>
              </a:rPr>
              <a:t>Placed FinSecure in direct violation of SOX's data-protection requirements</a:t>
            </a:r>
            <a:endParaRPr lang="en-US" sz="1500" dirty="0"/>
          </a:p>
        </p:txBody>
      </p:sp>
      <p:sp>
        <p:nvSpPr>
          <p:cNvPr id="9" name="Text 7"/>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0" name="Text 8"/>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OBJECTIVES &amp; SCOPE</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This Engagement Set Out to Do</a:t>
            </a:r>
            <a:endParaRPr lang="en-US" sz="3200" dirty="0"/>
          </a:p>
        </p:txBody>
      </p:sp>
      <p:sp>
        <p:nvSpPr>
          <p:cNvPr id="4" name="Shape 2"/>
          <p:cNvSpPr/>
          <p:nvPr/>
        </p:nvSpPr>
        <p:spPr>
          <a:xfrm>
            <a:off x="548640" y="1737360"/>
            <a:ext cx="3520440" cy="22860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5" name="Shape 3"/>
          <p:cNvSpPr/>
          <p:nvPr/>
        </p:nvSpPr>
        <p:spPr>
          <a:xfrm>
            <a:off x="822960" y="1965960"/>
            <a:ext cx="502920" cy="502920"/>
          </a:xfrm>
          <a:prstGeom prst="ellipse">
            <a:avLst/>
          </a:prstGeom>
          <a:solidFill>
            <a:srgbClr val="1E2761"/>
          </a:solidFill>
          <a:ln/>
        </p:spPr>
      </p:sp>
      <p:sp>
        <p:nvSpPr>
          <p:cNvPr id="6" name="Text 4"/>
          <p:cNvSpPr txBox="1"/>
          <p:nvPr/>
        </p:nvSpPr>
        <p:spPr>
          <a:xfrm>
            <a:off x="822960" y="196596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606040"/>
            <a:ext cx="301752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Achieve Compliance</a:t>
            </a:r>
            <a:endParaRPr lang="en-US" sz="1500" dirty="0"/>
          </a:p>
        </p:txBody>
      </p:sp>
      <p:sp>
        <p:nvSpPr>
          <p:cNvPr id="8" name="Text 6"/>
          <p:cNvSpPr txBox="1"/>
          <p:nvPr/>
        </p:nvSpPr>
        <p:spPr>
          <a:xfrm>
            <a:off x="822960" y="3063240"/>
            <a:ext cx="3017520" cy="82296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Bring FinSecure into alignment with SOX, PCI DSS, and GLBA</a:t>
            </a:r>
            <a:endParaRPr lang="en-US" sz="1200" dirty="0"/>
          </a:p>
        </p:txBody>
      </p:sp>
      <p:sp>
        <p:nvSpPr>
          <p:cNvPr id="9" name="Shape 7"/>
          <p:cNvSpPr/>
          <p:nvPr/>
        </p:nvSpPr>
        <p:spPr>
          <a:xfrm>
            <a:off x="4343400" y="1737360"/>
            <a:ext cx="3520440" cy="22860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10" name="Shape 8"/>
          <p:cNvSpPr/>
          <p:nvPr/>
        </p:nvSpPr>
        <p:spPr>
          <a:xfrm>
            <a:off x="4617720" y="1965960"/>
            <a:ext cx="502920" cy="502920"/>
          </a:xfrm>
          <a:prstGeom prst="ellipse">
            <a:avLst/>
          </a:prstGeom>
          <a:solidFill>
            <a:srgbClr val="1E2761"/>
          </a:solidFill>
          <a:ln/>
        </p:spPr>
      </p:sp>
      <p:sp>
        <p:nvSpPr>
          <p:cNvPr id="11" name="Text 9"/>
          <p:cNvSpPr txBox="1"/>
          <p:nvPr/>
        </p:nvSpPr>
        <p:spPr>
          <a:xfrm>
            <a:off x="4617720" y="196596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4617720" y="2606040"/>
            <a:ext cx="301752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Implement Zero Trust</a:t>
            </a:r>
            <a:endParaRPr lang="en-US" sz="1500" dirty="0"/>
          </a:p>
        </p:txBody>
      </p:sp>
      <p:sp>
        <p:nvSpPr>
          <p:cNvPr id="13" name="Text 11"/>
          <p:cNvSpPr txBox="1"/>
          <p:nvPr/>
        </p:nvSpPr>
        <p:spPr>
          <a:xfrm>
            <a:off x="4617720" y="3063240"/>
            <a:ext cx="3017520" cy="82296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“Never trust, always verify” across users, devices, and segments</a:t>
            </a:r>
            <a:endParaRPr lang="en-US" sz="1200" dirty="0"/>
          </a:p>
        </p:txBody>
      </p:sp>
      <p:sp>
        <p:nvSpPr>
          <p:cNvPr id="14" name="Shape 12"/>
          <p:cNvSpPr/>
          <p:nvPr/>
        </p:nvSpPr>
        <p:spPr>
          <a:xfrm>
            <a:off x="8138160" y="1737360"/>
            <a:ext cx="3520440" cy="2286000"/>
          </a:xfrm>
          <a:prstGeom prst="roundRect">
            <a:avLst>
              <a:gd name="adj" fmla="val 4000"/>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15" name="Shape 13"/>
          <p:cNvSpPr/>
          <p:nvPr/>
        </p:nvSpPr>
        <p:spPr>
          <a:xfrm>
            <a:off x="8412480" y="1965960"/>
            <a:ext cx="502920" cy="502920"/>
          </a:xfrm>
          <a:prstGeom prst="ellipse">
            <a:avLst/>
          </a:prstGeom>
          <a:solidFill>
            <a:srgbClr val="1E2761"/>
          </a:solidFill>
          <a:ln/>
        </p:spPr>
      </p:sp>
      <p:sp>
        <p:nvSpPr>
          <p:cNvPr id="16" name="Text 14"/>
          <p:cNvSpPr txBox="1"/>
          <p:nvPr/>
        </p:nvSpPr>
        <p:spPr>
          <a:xfrm>
            <a:off x="8412480" y="1965960"/>
            <a:ext cx="502920" cy="50292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8412480" y="2606040"/>
            <a:ext cx="3017520" cy="4572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Formalize Governance</a:t>
            </a:r>
            <a:endParaRPr lang="en-US" sz="1500" dirty="0"/>
          </a:p>
        </p:txBody>
      </p:sp>
      <p:sp>
        <p:nvSpPr>
          <p:cNvPr id="18" name="Text 16"/>
          <p:cNvSpPr txBox="1"/>
          <p:nvPr/>
        </p:nvSpPr>
        <p:spPr>
          <a:xfrm>
            <a:off x="8412480" y="3063240"/>
            <a:ext cx="3017520" cy="82296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network security policy covering access, monitoring, and incident response</a:t>
            </a:r>
            <a:endParaRPr lang="en-US" sz="1200" dirty="0"/>
          </a:p>
        </p:txBody>
      </p:sp>
      <p:sp>
        <p:nvSpPr>
          <p:cNvPr id="19" name="Shape 17"/>
          <p:cNvSpPr/>
          <p:nvPr/>
        </p:nvSpPr>
        <p:spPr>
          <a:xfrm>
            <a:off x="548640" y="4297680"/>
            <a:ext cx="11109960" cy="1463040"/>
          </a:xfrm>
          <a:prstGeom prst="rect">
            <a:avLst>
              <a:gd name="adj" fmla="val 5000"/>
            </a:avLst>
          </a:prstGeom>
          <a:solidFill>
            <a:srgbClr val="F4F6FB"/>
          </a:solidFill>
          <a:ln w="12700">
            <a:solidFill>
              <a:srgbClr val="CADCFC"/>
            </a:solidFill>
            <a:prstDash val="solid"/>
          </a:ln>
        </p:spPr>
      </p:sp>
      <p:sp>
        <p:nvSpPr>
          <p:cNvPr id="20" name="Text 18"/>
          <p:cNvSpPr txBox="1"/>
          <p:nvPr/>
        </p:nvSpPr>
        <p:spPr>
          <a:xfrm>
            <a:off x="822960" y="4434840"/>
            <a:ext cx="5212080" cy="320040"/>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IN SCOPE</a:t>
            </a:r>
            <a:endParaRPr lang="en-US" sz="1100" dirty="0"/>
          </a:p>
        </p:txBody>
      </p:sp>
      <p:sp>
        <p:nvSpPr>
          <p:cNvPr id="21" name="Text 19"/>
          <p:cNvSpPr txBox="1"/>
          <p:nvPr/>
        </p:nvSpPr>
        <p:spPr>
          <a:xfrm>
            <a:off x="822960" y="4754880"/>
            <a:ext cx="5212080" cy="8229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Network redesign · security technology · risk assessment · Zero Trust · staff training</a:t>
            </a:r>
            <a:endParaRPr lang="en-US" sz="1200" dirty="0"/>
          </a:p>
        </p:txBody>
      </p:sp>
      <p:sp>
        <p:nvSpPr>
          <p:cNvPr id="22" name="Text 20"/>
          <p:cNvSpPr txBox="1"/>
          <p:nvPr/>
        </p:nvSpPr>
        <p:spPr>
          <a:xfrm>
            <a:off x="6309360" y="4434840"/>
            <a:ext cx="5212080" cy="320040"/>
          </a:xfrm>
          <a:prstGeom prst="rect">
            <a:avLst/>
          </a:prstGeom>
          <a:noFill/>
          <a:ln/>
        </p:spPr>
        <p:txBody>
          <a:bodyPr wrap="square" rtlCol="0" anchor="ctr"/>
          <a:lstStyle/>
          <a:p>
            <a:pPr indent="0" marL="0">
              <a:buNone/>
            </a:pPr>
            <a:r>
              <a:rPr lang="en-US" sz="1100" b="1" spc="150" kern="0" dirty="0">
                <a:solidFill>
                  <a:srgbClr val="C94F4F"/>
                </a:solidFill>
                <a:latin typeface="Calibri" pitchFamily="34" charset="0"/>
                <a:ea typeface="Calibri" pitchFamily="34" charset="-122"/>
                <a:cs typeface="Calibri" pitchFamily="34" charset="-120"/>
              </a:rPr>
              <a:t>OUT OF SCOPE</a:t>
            </a:r>
            <a:endParaRPr lang="en-US" sz="1100" dirty="0"/>
          </a:p>
        </p:txBody>
      </p:sp>
      <p:sp>
        <p:nvSpPr>
          <p:cNvPr id="23" name="Text 21"/>
          <p:cNvSpPr txBox="1"/>
          <p:nvPr/>
        </p:nvSpPr>
        <p:spPr>
          <a:xfrm>
            <a:off x="6309360" y="4754880"/>
            <a:ext cx="5212080" cy="82296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Health-sector compliance (HIPAA) · physical office relocation / facilities work</a:t>
            </a:r>
            <a:endParaRPr lang="en-US" sz="1200" dirty="0"/>
          </a:p>
        </p:txBody>
      </p:sp>
      <p:sp>
        <p:nvSpPr>
          <p:cNvPr id="24" name="Text 22"/>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25" name="Text 23"/>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NETWORK SECURITY ANALYSIS</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Methodology: Three Complementary Approaches</a:t>
            </a:r>
            <a:endParaRPr lang="en-US" sz="3200" dirty="0"/>
          </a:p>
        </p:txBody>
      </p:sp>
      <p:sp>
        <p:nvSpPr>
          <p:cNvPr id="4" name="Shape 2"/>
          <p:cNvSpPr/>
          <p:nvPr/>
        </p:nvSpPr>
        <p:spPr>
          <a:xfrm>
            <a:off x="548640" y="1737360"/>
            <a:ext cx="3520440" cy="4023360"/>
          </a:xfrm>
          <a:prstGeom prst="roundRect">
            <a:avLst>
              <a:gd name="adj" fmla="val 2597"/>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5" name="Shape 3"/>
          <p:cNvSpPr/>
          <p:nvPr/>
        </p:nvSpPr>
        <p:spPr>
          <a:xfrm>
            <a:off x="548640" y="1737360"/>
            <a:ext cx="3520440" cy="128016"/>
          </a:xfrm>
          <a:prstGeom prst="rect">
            <a:avLst/>
          </a:prstGeom>
          <a:solidFill>
            <a:srgbClr val="1E2761"/>
          </a:solidFill>
          <a:ln/>
        </p:spPr>
      </p:sp>
      <p:sp>
        <p:nvSpPr>
          <p:cNvPr id="6" name="Text 4"/>
          <p:cNvSpPr txBox="1"/>
          <p:nvPr/>
        </p:nvSpPr>
        <p:spPr>
          <a:xfrm>
            <a:off x="822960" y="2103120"/>
            <a:ext cx="3017520" cy="8229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Automated</a:t>
            </a:r>
            <a:endParaRPr lang="en-US" sz="1800" dirty="0"/>
          </a:p>
          <a:p>
            <a:pPr indent="0" marL="0">
              <a:buNone/>
            </a:pPr>
            <a:r>
              <a:rPr lang="en-US" sz="1800" b="1" dirty="0">
                <a:solidFill>
                  <a:srgbClr val="1A1A1A"/>
                </a:solidFill>
                <a:latin typeface="Cambria" pitchFamily="34" charset="0"/>
                <a:ea typeface="Cambria" pitchFamily="34" charset="-122"/>
                <a:cs typeface="Cambria" pitchFamily="34" charset="-120"/>
              </a:rPr>
              <a:t>Scanning</a:t>
            </a:r>
            <a:endParaRPr lang="en-US" sz="1800" dirty="0"/>
          </a:p>
        </p:txBody>
      </p:sp>
      <p:sp>
        <p:nvSpPr>
          <p:cNvPr id="7" name="Text 5"/>
          <p:cNvSpPr txBox="1"/>
          <p:nvPr/>
        </p:nvSpPr>
        <p:spPr>
          <a:xfrm>
            <a:off x="822960" y="2880360"/>
            <a:ext cx="3017520" cy="36576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Nmap + OWASP ZAP</a:t>
            </a:r>
            <a:endParaRPr lang="en-US" sz="1200" dirty="0"/>
          </a:p>
        </p:txBody>
      </p:sp>
      <p:sp>
        <p:nvSpPr>
          <p:cNvPr id="8" name="Text 6"/>
          <p:cNvSpPr txBox="1"/>
          <p:nvPr/>
        </p:nvSpPr>
        <p:spPr>
          <a:xfrm>
            <a:off x="822960" y="3337560"/>
            <a:ext cx="3017520" cy="2286000"/>
          </a:xfrm>
          <a:prstGeom prst="rect">
            <a:avLst/>
          </a:prstGeom>
          <a:noFill/>
          <a:ln/>
        </p:spPr>
        <p:txBody>
          <a:bodyPr wrap="square" lIns="0" tIns="0" rIns="0" bIns="0" rtlCol="0" anchor="ctr"/>
          <a:lstStyle/>
          <a:p>
            <a:pPr indent="0" marL="0">
              <a:lnSpc>
                <a:spcPct val="120000"/>
              </a:lnSpc>
              <a:buNone/>
            </a:pPr>
            <a:r>
              <a:rPr lang="en-US" sz="1250" dirty="0">
                <a:solidFill>
                  <a:srgbClr val="1A1A1A"/>
                </a:solidFill>
                <a:latin typeface="Calibri" pitchFamily="34" charset="0"/>
                <a:ea typeface="Calibri" pitchFamily="34" charset="-122"/>
                <a:cs typeface="Calibri" pitchFamily="34" charset="-120"/>
              </a:rPr>
              <a:t>Broad, repeatable coverage of open ports, exposed services, and known-vulnerable software across every server and device.</a:t>
            </a:r>
            <a:endParaRPr lang="en-US" sz="1250" dirty="0"/>
          </a:p>
        </p:txBody>
      </p:sp>
      <p:sp>
        <p:nvSpPr>
          <p:cNvPr id="9" name="Shape 7"/>
          <p:cNvSpPr/>
          <p:nvPr/>
        </p:nvSpPr>
        <p:spPr>
          <a:xfrm>
            <a:off x="4343400" y="1737360"/>
            <a:ext cx="3520440" cy="4023360"/>
          </a:xfrm>
          <a:prstGeom prst="roundRect">
            <a:avLst>
              <a:gd name="adj" fmla="val 2597"/>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10" name="Shape 8"/>
          <p:cNvSpPr/>
          <p:nvPr/>
        </p:nvSpPr>
        <p:spPr>
          <a:xfrm>
            <a:off x="4343400" y="1737360"/>
            <a:ext cx="3520440" cy="128016"/>
          </a:xfrm>
          <a:prstGeom prst="rect">
            <a:avLst/>
          </a:prstGeom>
          <a:solidFill>
            <a:srgbClr val="C94F4F"/>
          </a:solidFill>
          <a:ln/>
        </p:spPr>
      </p:sp>
      <p:sp>
        <p:nvSpPr>
          <p:cNvPr id="11" name="Text 9"/>
          <p:cNvSpPr txBox="1"/>
          <p:nvPr/>
        </p:nvSpPr>
        <p:spPr>
          <a:xfrm>
            <a:off x="4617720" y="2103120"/>
            <a:ext cx="3017520" cy="8229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Manual</a:t>
            </a:r>
            <a:endParaRPr lang="en-US" sz="1800" dirty="0"/>
          </a:p>
          <a:p>
            <a:pPr indent="0" marL="0">
              <a:buNone/>
            </a:pPr>
            <a:r>
              <a:rPr lang="en-US" sz="1800" b="1" dirty="0">
                <a:solidFill>
                  <a:srgbClr val="1A1A1A"/>
                </a:solidFill>
                <a:latin typeface="Cambria" pitchFamily="34" charset="0"/>
                <a:ea typeface="Cambria" pitchFamily="34" charset="-122"/>
                <a:cs typeface="Cambria" pitchFamily="34" charset="-120"/>
              </a:rPr>
              <a:t>Penetration Testing</a:t>
            </a:r>
            <a:endParaRPr lang="en-US" sz="1800" dirty="0"/>
          </a:p>
        </p:txBody>
      </p:sp>
      <p:sp>
        <p:nvSpPr>
          <p:cNvPr id="12" name="Text 10"/>
          <p:cNvSpPr txBox="1"/>
          <p:nvPr/>
        </p:nvSpPr>
        <p:spPr>
          <a:xfrm>
            <a:off x="4617720" y="2880360"/>
            <a:ext cx="3017520" cy="365760"/>
          </a:xfrm>
          <a:prstGeom prst="rect">
            <a:avLst/>
          </a:prstGeom>
          <a:noFill/>
          <a:ln/>
        </p:spPr>
        <p:txBody>
          <a:bodyPr wrap="square" lIns="0" tIns="0" rIns="0" bIns="0" rtlCol="0" anchor="ctr"/>
          <a:lstStyle/>
          <a:p>
            <a:pPr indent="0" marL="0">
              <a:buNone/>
            </a:pPr>
            <a:r>
              <a:rPr lang="en-US" sz="1200" b="1" dirty="0">
                <a:solidFill>
                  <a:srgbClr val="C94F4F"/>
                </a:solidFill>
                <a:latin typeface="Calibri" pitchFamily="34" charset="0"/>
                <a:ea typeface="Calibri" pitchFamily="34" charset="-122"/>
                <a:cs typeface="Calibri" pitchFamily="34" charset="-120"/>
              </a:rPr>
              <a:t>Metasploit</a:t>
            </a:r>
            <a:endParaRPr lang="en-US" sz="1200" dirty="0"/>
          </a:p>
        </p:txBody>
      </p:sp>
      <p:sp>
        <p:nvSpPr>
          <p:cNvPr id="13" name="Text 11"/>
          <p:cNvSpPr txBox="1"/>
          <p:nvPr/>
        </p:nvSpPr>
        <p:spPr>
          <a:xfrm>
            <a:off x="4617720" y="3337560"/>
            <a:ext cx="3017520" cy="2286000"/>
          </a:xfrm>
          <a:prstGeom prst="rect">
            <a:avLst/>
          </a:prstGeom>
          <a:noFill/>
          <a:ln/>
        </p:spPr>
        <p:txBody>
          <a:bodyPr wrap="square" lIns="0" tIns="0" rIns="0" bIns="0" rtlCol="0" anchor="ctr"/>
          <a:lstStyle/>
          <a:p>
            <a:pPr indent="0" marL="0">
              <a:lnSpc>
                <a:spcPct val="120000"/>
              </a:lnSpc>
              <a:buNone/>
            </a:pPr>
            <a:r>
              <a:rPr lang="en-US" sz="1250" dirty="0">
                <a:solidFill>
                  <a:srgbClr val="1A1A1A"/>
                </a:solidFill>
                <a:latin typeface="Calibri" pitchFamily="34" charset="0"/>
                <a:ea typeface="Calibri" pitchFamily="34" charset="-122"/>
                <a:cs typeface="Calibri" pitchFamily="34" charset="-120"/>
              </a:rPr>
              <a:t>Targeted exploitation of the specific weaknesses scanning flagged — confirming they were actually exploitable, not theoretical.</a:t>
            </a:r>
            <a:endParaRPr lang="en-US" sz="1250" dirty="0"/>
          </a:p>
        </p:txBody>
      </p:sp>
      <p:sp>
        <p:nvSpPr>
          <p:cNvPr id="14" name="Shape 12"/>
          <p:cNvSpPr/>
          <p:nvPr/>
        </p:nvSpPr>
        <p:spPr>
          <a:xfrm>
            <a:off x="8138160" y="1737360"/>
            <a:ext cx="3520440" cy="4023360"/>
          </a:xfrm>
          <a:prstGeom prst="roundRect">
            <a:avLst>
              <a:gd name="adj" fmla="val 2597"/>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15" name="Shape 13"/>
          <p:cNvSpPr/>
          <p:nvPr/>
        </p:nvSpPr>
        <p:spPr>
          <a:xfrm>
            <a:off x="8138160" y="1737360"/>
            <a:ext cx="3520440" cy="128016"/>
          </a:xfrm>
          <a:prstGeom prst="rect">
            <a:avLst/>
          </a:prstGeom>
          <a:solidFill>
            <a:srgbClr val="C9A227"/>
          </a:solidFill>
          <a:ln/>
        </p:spPr>
      </p:sp>
      <p:sp>
        <p:nvSpPr>
          <p:cNvPr id="16" name="Text 14"/>
          <p:cNvSpPr txBox="1"/>
          <p:nvPr/>
        </p:nvSpPr>
        <p:spPr>
          <a:xfrm>
            <a:off x="8412480" y="2103120"/>
            <a:ext cx="3017520" cy="822960"/>
          </a:xfrm>
          <a:prstGeom prst="rect">
            <a:avLst/>
          </a:prstGeom>
          <a:noFill/>
          <a:ln/>
        </p:spPr>
        <p:txBody>
          <a:bodyPr wrap="square" lIns="0" tIns="0" rIns="0" bIns="0"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Security</a:t>
            </a:r>
            <a:endParaRPr lang="en-US" sz="1800" dirty="0"/>
          </a:p>
          <a:p>
            <a:pPr indent="0" marL="0">
              <a:buNone/>
            </a:pPr>
            <a:r>
              <a:rPr lang="en-US" sz="1800" b="1" dirty="0">
                <a:solidFill>
                  <a:srgbClr val="1A1A1A"/>
                </a:solidFill>
                <a:latin typeface="Cambria" pitchFamily="34" charset="0"/>
                <a:ea typeface="Cambria" pitchFamily="34" charset="-122"/>
                <a:cs typeface="Cambria" pitchFamily="34" charset="-120"/>
              </a:rPr>
              <a:t>Audits</a:t>
            </a:r>
            <a:endParaRPr lang="en-US" sz="1800" dirty="0"/>
          </a:p>
        </p:txBody>
      </p:sp>
      <p:sp>
        <p:nvSpPr>
          <p:cNvPr id="17" name="Text 15"/>
          <p:cNvSpPr txBox="1"/>
          <p:nvPr/>
        </p:nvSpPr>
        <p:spPr>
          <a:xfrm>
            <a:off x="8412480" y="2880360"/>
            <a:ext cx="3017520" cy="365760"/>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Policy &amp; config review</a:t>
            </a:r>
            <a:endParaRPr lang="en-US" sz="1200" dirty="0"/>
          </a:p>
        </p:txBody>
      </p:sp>
      <p:sp>
        <p:nvSpPr>
          <p:cNvPr id="18" name="Text 16"/>
          <p:cNvSpPr txBox="1"/>
          <p:nvPr/>
        </p:nvSpPr>
        <p:spPr>
          <a:xfrm>
            <a:off x="8412480" y="3337560"/>
            <a:ext cx="3017520" cy="2286000"/>
          </a:xfrm>
          <a:prstGeom prst="rect">
            <a:avLst/>
          </a:prstGeom>
          <a:noFill/>
          <a:ln/>
        </p:spPr>
        <p:txBody>
          <a:bodyPr wrap="square" lIns="0" tIns="0" rIns="0" bIns="0" rtlCol="0" anchor="ctr"/>
          <a:lstStyle/>
          <a:p>
            <a:pPr indent="0" marL="0">
              <a:lnSpc>
                <a:spcPct val="120000"/>
              </a:lnSpc>
              <a:buNone/>
            </a:pPr>
            <a:r>
              <a:rPr lang="en-US" sz="1250" dirty="0">
                <a:solidFill>
                  <a:srgbClr val="1A1A1A"/>
                </a:solidFill>
                <a:latin typeface="Calibri" pitchFamily="34" charset="0"/>
                <a:ea typeface="Calibri" pitchFamily="34" charset="-122"/>
                <a:cs typeface="Calibri" pitchFamily="34" charset="-120"/>
              </a:rPr>
              <a:t>A compliance-focused review of access controls, encryption, and segmentation against SOX, PCI DSS, and GLBA.</a:t>
            </a:r>
            <a:endParaRPr lang="en-US" sz="1250" dirty="0"/>
          </a:p>
        </p:txBody>
      </p:sp>
      <p:sp>
        <p:nvSpPr>
          <p:cNvPr id="19" name="Text 17"/>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20" name="Text 18"/>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NETWORK SECURITY ANALYSIS</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Live Evidence: Scanning FinSWebApp</a:t>
            </a:r>
            <a:endParaRPr lang="en-US" sz="3200" dirty="0"/>
          </a:p>
        </p:txBody>
      </p:sp>
      <p:pic>
        <p:nvPicPr>
          <p:cNvPr id="4" name="Image 0" descr="C:\Users\rareb\OneDrive\Desktop\University Of Winnipeg\Case Studies Issues &amp; Capstone Project V. Balogun NSD Fall 2023\finsecure-network-security-capstone\evidence\pentest\finswebapp-login.jpg">    </p:cNvPr>
          <p:cNvPicPr>
            <a:picLocks noChangeAspect="1"/>
          </p:cNvPicPr>
          <p:nvPr/>
        </p:nvPicPr>
        <p:blipFill>
          <a:blip r:embed="rId1"/>
          <a:stretch>
            <a:fillRect/>
          </a:stretch>
        </p:blipFill>
        <p:spPr>
          <a:xfrm>
            <a:off x="548640" y="2331720"/>
            <a:ext cx="3520440" cy="1857240"/>
          </a:xfrm>
          <a:prstGeom prst="rect">
            <a:avLst/>
          </a:prstGeom>
        </p:spPr>
      </p:pic>
      <p:sp>
        <p:nvSpPr>
          <p:cNvPr id="5" name="Shape 2"/>
          <p:cNvSpPr/>
          <p:nvPr/>
        </p:nvSpPr>
        <p:spPr>
          <a:xfrm>
            <a:off x="548640" y="2331720"/>
            <a:ext cx="3520440" cy="1857240"/>
          </a:xfrm>
          <a:prstGeom prst="roundRect">
            <a:avLst/>
          </a:prstGeom>
          <a:ln w="19050">
            <a:solidFill>
              <a:srgbClr val="CADCFC"/>
            </a:solidFill>
            <a:prstDash val="solid"/>
          </a:ln>
        </p:spPr>
      </p:sp>
      <p:sp>
        <p:nvSpPr>
          <p:cNvPr id="6" name="Text 3"/>
          <p:cNvSpPr txBox="1"/>
          <p:nvPr/>
        </p:nvSpPr>
        <p:spPr>
          <a:xfrm>
            <a:off x="548640" y="4298688"/>
            <a:ext cx="3520440" cy="6858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The actual FinSWebApp login page — the application under test.</a:t>
            </a:r>
            <a:endParaRPr lang="en-US" sz="1050" dirty="0"/>
          </a:p>
        </p:txBody>
      </p:sp>
      <p:pic>
        <p:nvPicPr>
          <p:cNvPr id="7" name="Image 1" descr="C:\Users\rareb\OneDrive\Desktop\University Of Winnipeg\Case Studies Issues &amp; Capstone Project V. Balogun NSD Fall 2023\finsecure-network-security-capstone\evidence\pentest\nmap-scan-production.jpg">    </p:cNvPr>
          <p:cNvPicPr>
            <a:picLocks noChangeAspect="1"/>
          </p:cNvPicPr>
          <p:nvPr/>
        </p:nvPicPr>
        <p:blipFill>
          <a:blip r:embed="rId2"/>
          <a:stretch>
            <a:fillRect/>
          </a:stretch>
        </p:blipFill>
        <p:spPr>
          <a:xfrm>
            <a:off x="4297680" y="2331720"/>
            <a:ext cx="3520440" cy="1861080"/>
          </a:xfrm>
          <a:prstGeom prst="rect">
            <a:avLst/>
          </a:prstGeom>
        </p:spPr>
      </p:pic>
      <p:sp>
        <p:nvSpPr>
          <p:cNvPr id="8" name="Shape 4"/>
          <p:cNvSpPr/>
          <p:nvPr/>
        </p:nvSpPr>
        <p:spPr>
          <a:xfrm>
            <a:off x="4297680" y="2331720"/>
            <a:ext cx="3520440" cy="1861080"/>
          </a:xfrm>
          <a:prstGeom prst="roundRect">
            <a:avLst/>
          </a:prstGeom>
          <a:ln w="19050">
            <a:solidFill>
              <a:srgbClr val="CADCFC"/>
            </a:solidFill>
            <a:prstDash val="solid"/>
          </a:ln>
        </p:spPr>
      </p:sp>
      <p:sp>
        <p:nvSpPr>
          <p:cNvPr id="9" name="Text 5"/>
          <p:cNvSpPr txBox="1"/>
          <p:nvPr/>
        </p:nvSpPr>
        <p:spPr>
          <a:xfrm>
            <a:off x="4297680" y="4302528"/>
            <a:ext cx="3520440" cy="6858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Nmap: only ports 80/443 exposed externally, with a valid TLS cert.</a:t>
            </a:r>
            <a:endParaRPr lang="en-US" sz="1050" dirty="0"/>
          </a:p>
        </p:txBody>
      </p:sp>
      <p:pic>
        <p:nvPicPr>
          <p:cNvPr id="10" name="Image 2" descr="C:\Users\rareb\OneDrive\Desktop\University Of Winnipeg\Case Studies Issues &amp; Capstone Project V. Balogun NSD Fall 2023\finsecure-network-security-capstone\evidence\pentest\zap-vulnerability-scan.jpg">    </p:cNvPr>
          <p:cNvPicPr>
            <a:picLocks noChangeAspect="1"/>
          </p:cNvPicPr>
          <p:nvPr/>
        </p:nvPicPr>
        <p:blipFill>
          <a:blip r:embed="rId3"/>
          <a:stretch>
            <a:fillRect/>
          </a:stretch>
        </p:blipFill>
        <p:spPr>
          <a:xfrm>
            <a:off x="8046720" y="2331720"/>
            <a:ext cx="3520440" cy="1857240"/>
          </a:xfrm>
          <a:prstGeom prst="rect">
            <a:avLst/>
          </a:prstGeom>
        </p:spPr>
      </p:pic>
      <p:sp>
        <p:nvSpPr>
          <p:cNvPr id="11" name="Shape 6"/>
          <p:cNvSpPr/>
          <p:nvPr/>
        </p:nvSpPr>
        <p:spPr>
          <a:xfrm>
            <a:off x="8046720" y="2331720"/>
            <a:ext cx="3520440" cy="1857240"/>
          </a:xfrm>
          <a:prstGeom prst="roundRect">
            <a:avLst/>
          </a:prstGeom>
          <a:ln w="19050">
            <a:solidFill>
              <a:srgbClr val="CADCFC"/>
            </a:solidFill>
            <a:prstDash val="solid"/>
          </a:ln>
        </p:spPr>
      </p:sp>
      <p:sp>
        <p:nvSpPr>
          <p:cNvPr id="12" name="Text 7"/>
          <p:cNvSpPr txBox="1"/>
          <p:nvPr/>
        </p:nvSpPr>
        <p:spPr>
          <a:xfrm>
            <a:off x="8046720" y="4298688"/>
            <a:ext cx="3520440" cy="6858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OWASP ZAP: 12 alerts, including a missing CSP header.</a:t>
            </a:r>
            <a:endParaRPr lang="en-US" sz="1050" dirty="0"/>
          </a:p>
        </p:txBody>
      </p:sp>
      <p:sp>
        <p:nvSpPr>
          <p:cNvPr id="13" name="Text 8"/>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4" name="Text 9"/>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FINDINGS</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The Attack Path, Reconstructed</a:t>
            </a:r>
            <a:endParaRPr lang="en-US" sz="3200" dirty="0"/>
          </a:p>
        </p:txBody>
      </p:sp>
      <p:pic>
        <p:nvPicPr>
          <p:cNvPr id="4" name="Image 0" descr="C:\Users\rareb\AppData\Local\Temp\claude\C--Users-rareb-OneDrive-Desktop-University-Of-Winnipeg-Case-Studies-Issues---Capstone-Project-V--Balogun-NSD-Fall-2023\288735ab-ce17-49e2-9255-b3c08ab0bae8\scratchpad\attack-path.png">    </p:cNvPr>
          <p:cNvPicPr>
            <a:picLocks noChangeAspect="1"/>
          </p:cNvPicPr>
          <p:nvPr/>
        </p:nvPicPr>
        <p:blipFill>
          <a:blip r:embed="rId1"/>
          <a:stretch>
            <a:fillRect/>
          </a:stretch>
        </p:blipFill>
        <p:spPr>
          <a:xfrm>
            <a:off x="548640" y="1600200"/>
            <a:ext cx="11064240" cy="3539424"/>
          </a:xfrm>
          <a:prstGeom prst="rect">
            <a:avLst/>
          </a:prstGeom>
        </p:spPr>
      </p:pic>
      <p:sp>
        <p:nvSpPr>
          <p:cNvPr id="5" name="Shape 2"/>
          <p:cNvSpPr/>
          <p:nvPr/>
        </p:nvSpPr>
        <p:spPr>
          <a:xfrm>
            <a:off x="548640" y="5257800"/>
            <a:ext cx="3520440" cy="1051560"/>
          </a:xfrm>
          <a:prstGeom prst="roundRect">
            <a:avLst>
              <a:gd name="adj" fmla="val 6957"/>
            </a:avLst>
          </a:prstGeom>
          <a:solidFill>
            <a:srgbClr val="F4F6FB"/>
          </a:solidFill>
          <a:ln w="15875">
            <a:solidFill>
              <a:srgbClr val="C94F4F"/>
            </a:solidFill>
            <a:prstDash val="solid"/>
          </a:ln>
        </p:spPr>
      </p:sp>
      <p:sp>
        <p:nvSpPr>
          <p:cNvPr id="6" name="Text 3"/>
          <p:cNvSpPr txBox="1"/>
          <p:nvPr/>
        </p:nvSpPr>
        <p:spPr>
          <a:xfrm>
            <a:off x="777240" y="5367528"/>
            <a:ext cx="3108960" cy="457200"/>
          </a:xfrm>
          <a:prstGeom prst="rect">
            <a:avLst/>
          </a:prstGeom>
          <a:noFill/>
          <a:ln/>
        </p:spPr>
        <p:txBody>
          <a:bodyPr wrap="square" lIns="0" tIns="0" rIns="0" bIns="0" rtlCol="0" anchor="ctr"/>
          <a:lstStyle/>
          <a:p>
            <a:pPr indent="0" marL="0">
              <a:buNone/>
            </a:pPr>
            <a:r>
              <a:rPr lang="en-US" sz="1400" b="1" dirty="0">
                <a:solidFill>
                  <a:srgbClr val="C94F4F"/>
                </a:solidFill>
                <a:latin typeface="Calibri" pitchFamily="34" charset="0"/>
                <a:ea typeface="Calibri" pitchFamily="34" charset="-122"/>
                <a:cs typeface="Calibri" pitchFamily="34" charset="-120"/>
              </a:rPr>
              <a:t>SQL Injection</a:t>
            </a:r>
            <a:endParaRPr lang="en-US" sz="1400" dirty="0"/>
          </a:p>
        </p:txBody>
      </p:sp>
      <p:sp>
        <p:nvSpPr>
          <p:cNvPr id="7" name="Text 4"/>
          <p:cNvSpPr txBox="1"/>
          <p:nvPr/>
        </p:nvSpPr>
        <p:spPr>
          <a:xfrm>
            <a:off x="777240" y="5824728"/>
            <a:ext cx="3108960" cy="41148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Internally-built web app</a:t>
            </a:r>
            <a:endParaRPr lang="en-US" sz="1150" dirty="0"/>
          </a:p>
        </p:txBody>
      </p:sp>
      <p:sp>
        <p:nvSpPr>
          <p:cNvPr id="8" name="Shape 5"/>
          <p:cNvSpPr/>
          <p:nvPr/>
        </p:nvSpPr>
        <p:spPr>
          <a:xfrm>
            <a:off x="4343400" y="5257800"/>
            <a:ext cx="3520440" cy="1051560"/>
          </a:xfrm>
          <a:prstGeom prst="roundRect">
            <a:avLst>
              <a:gd name="adj" fmla="val 6957"/>
            </a:avLst>
          </a:prstGeom>
          <a:solidFill>
            <a:srgbClr val="F4F6FB"/>
          </a:solidFill>
          <a:ln w="15875">
            <a:solidFill>
              <a:srgbClr val="C9A227"/>
            </a:solidFill>
            <a:prstDash val="solid"/>
          </a:ln>
        </p:spPr>
      </p:sp>
      <p:sp>
        <p:nvSpPr>
          <p:cNvPr id="9" name="Text 6"/>
          <p:cNvSpPr txBox="1"/>
          <p:nvPr/>
        </p:nvSpPr>
        <p:spPr>
          <a:xfrm>
            <a:off x="4572000" y="5367528"/>
            <a:ext cx="3108960" cy="457200"/>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Cross-Site Scripting</a:t>
            </a:r>
            <a:endParaRPr lang="en-US" sz="1400" dirty="0"/>
          </a:p>
        </p:txBody>
      </p:sp>
      <p:sp>
        <p:nvSpPr>
          <p:cNvPr id="10" name="Text 7"/>
          <p:cNvSpPr txBox="1"/>
          <p:nvPr/>
        </p:nvSpPr>
        <p:spPr>
          <a:xfrm>
            <a:off x="4572000" y="5824728"/>
            <a:ext cx="3108960" cy="41148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Same web application</a:t>
            </a:r>
            <a:endParaRPr lang="en-US" sz="1150" dirty="0"/>
          </a:p>
        </p:txBody>
      </p:sp>
      <p:sp>
        <p:nvSpPr>
          <p:cNvPr id="11" name="Shape 8"/>
          <p:cNvSpPr/>
          <p:nvPr/>
        </p:nvSpPr>
        <p:spPr>
          <a:xfrm>
            <a:off x="8138160" y="5257800"/>
            <a:ext cx="3520440" cy="1051560"/>
          </a:xfrm>
          <a:prstGeom prst="roundRect">
            <a:avLst>
              <a:gd name="adj" fmla="val 6957"/>
            </a:avLst>
          </a:prstGeom>
          <a:solidFill>
            <a:srgbClr val="F4F6FB"/>
          </a:solidFill>
          <a:ln w="15875">
            <a:solidFill>
              <a:srgbClr val="3B4A9E"/>
            </a:solidFill>
            <a:prstDash val="solid"/>
          </a:ln>
        </p:spPr>
      </p:sp>
      <p:sp>
        <p:nvSpPr>
          <p:cNvPr id="12" name="Text 9"/>
          <p:cNvSpPr txBox="1"/>
          <p:nvPr/>
        </p:nvSpPr>
        <p:spPr>
          <a:xfrm>
            <a:off x="8366760" y="5367528"/>
            <a:ext cx="3108960" cy="457200"/>
          </a:xfrm>
          <a:prstGeom prst="rect">
            <a:avLst/>
          </a:prstGeom>
          <a:noFill/>
          <a:ln/>
        </p:spPr>
        <p:txBody>
          <a:bodyPr wrap="square" lIns="0" tIns="0" rIns="0" bIns="0" rtlCol="0" anchor="ctr"/>
          <a:lstStyle/>
          <a:p>
            <a:pPr indent="0" marL="0">
              <a:buNone/>
            </a:pPr>
            <a:r>
              <a:rPr lang="en-US" sz="1400" b="1" dirty="0">
                <a:solidFill>
                  <a:srgbClr val="3B4A9E"/>
                </a:solidFill>
                <a:latin typeface="Calibri" pitchFamily="34" charset="0"/>
                <a:ea typeface="Calibri" pitchFamily="34" charset="-122"/>
                <a:cs typeface="Calibri" pitchFamily="34" charset="-120"/>
              </a:rPr>
              <a:t>Weak Authentication</a:t>
            </a:r>
            <a:endParaRPr lang="en-US" sz="1400" dirty="0"/>
          </a:p>
        </p:txBody>
      </p:sp>
      <p:sp>
        <p:nvSpPr>
          <p:cNvPr id="13" name="Text 10"/>
          <p:cNvSpPr txBox="1"/>
          <p:nvPr/>
        </p:nvSpPr>
        <p:spPr>
          <a:xfrm>
            <a:off x="8366760" y="5824728"/>
            <a:ext cx="3108960" cy="41148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SFTP default credentials</a:t>
            </a:r>
            <a:endParaRPr lang="en-US" sz="1150" dirty="0"/>
          </a:p>
        </p:txBody>
      </p:sp>
      <p:sp>
        <p:nvSpPr>
          <p:cNvPr id="14" name="Text 11"/>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5" name="Text 12"/>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C94F4F"/>
                </a:solidFill>
                <a:latin typeface="Calibri" pitchFamily="34" charset="0"/>
                <a:ea typeface="Calibri" pitchFamily="34" charset="-122"/>
                <a:cs typeface="Calibri" pitchFamily="34" charset="-120"/>
              </a:rPr>
              <a:t>NETWORK REDESIGN</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Before: A Flat, Under-Segmented Network</a:t>
            </a:r>
            <a:endParaRPr lang="en-US" sz="3200" dirty="0"/>
          </a:p>
        </p:txBody>
      </p:sp>
      <p:pic>
        <p:nvPicPr>
          <p:cNvPr id="4" name="Image 0" descr="C:\Users\rareb\AppData\Local\Temp\claude\C--Users-rareb-OneDrive-Desktop-University-Of-Winnipeg-Case-Studies-Issues---Capstone-Project-V--Balogun-NSD-Fall-2023\288735ab-ce17-49e2-9255-b3c08ab0bae8\scratchpad\network-before.png">    </p:cNvPr>
          <p:cNvPicPr>
            <a:picLocks noChangeAspect="1"/>
          </p:cNvPicPr>
          <p:nvPr/>
        </p:nvPicPr>
        <p:blipFill>
          <a:blip r:embed="rId1"/>
          <a:stretch>
            <a:fillRect/>
          </a:stretch>
        </p:blipFill>
        <p:spPr>
          <a:xfrm>
            <a:off x="548640" y="1600200"/>
            <a:ext cx="6949440" cy="4308386"/>
          </a:xfrm>
          <a:prstGeom prst="rect">
            <a:avLst/>
          </a:prstGeom>
        </p:spPr>
      </p:pic>
      <p:sp>
        <p:nvSpPr>
          <p:cNvPr id="5" name="Text 2"/>
          <p:cNvSpPr txBox="1"/>
          <p:nvPr/>
        </p:nvSpPr>
        <p:spPr>
          <a:xfrm>
            <a:off x="7726680" y="1920240"/>
            <a:ext cx="3931920" cy="2926080"/>
          </a:xfrm>
          <a:prstGeom prst="rect">
            <a:avLst/>
          </a:prstGeom>
          <a:noFill/>
          <a:ln/>
        </p:spPr>
        <p:txBody>
          <a:bodyPr wrap="square" rtlCol="0" anchor="ctr"/>
          <a:lstStyle/>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Single WAF in front of one flat DMZ</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Web servers, SFTP, cache, and the PCI-DSS database all share one zone</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No barrier between the compromised web tier and the database</a:t>
            </a:r>
            <a:endParaRPr lang="en-US" sz="1300" dirty="0"/>
          </a:p>
          <a:p>
            <a:pPr marL="342900" indent="-342900">
              <a:spcAft>
                <a:spcPts val="1200"/>
              </a:spcAft>
              <a:buSzPct val="100000"/>
              <a:buChar char="•"/>
            </a:pPr>
            <a:r>
              <a:rPr lang="en-US" sz="1300" dirty="0">
                <a:solidFill>
                  <a:srgbClr val="1A1A1A"/>
                </a:solidFill>
                <a:latin typeface="Calibri" pitchFamily="34" charset="0"/>
                <a:ea typeface="Calibri" pitchFamily="34" charset="-122"/>
                <a:cs typeface="Calibri" pitchFamily="34" charset="-120"/>
              </a:rPr>
              <a:t>Internal VLANs not separated by department</a:t>
            </a:r>
            <a:endParaRPr lang="en-US" sz="1300" dirty="0"/>
          </a:p>
        </p:txBody>
      </p:sp>
      <p:sp>
        <p:nvSpPr>
          <p:cNvPr id="6" name="Shape 3"/>
          <p:cNvSpPr/>
          <p:nvPr/>
        </p:nvSpPr>
        <p:spPr>
          <a:xfrm>
            <a:off x="7726680" y="5074920"/>
            <a:ext cx="3931920" cy="1234440"/>
          </a:xfrm>
          <a:prstGeom prst="roundRect">
            <a:avLst>
              <a:gd name="adj" fmla="val 5926"/>
            </a:avLst>
          </a:prstGeom>
          <a:solidFill>
            <a:srgbClr val="C94F4F">
              <a:alpha val="12000"/>
            </a:srgbClr>
          </a:solidFill>
          <a:ln w="12700">
            <a:solidFill>
              <a:srgbClr val="C94F4F"/>
            </a:solidFill>
            <a:prstDash val="solid"/>
          </a:ln>
        </p:spPr>
      </p:sp>
      <p:sp>
        <p:nvSpPr>
          <p:cNvPr id="7" name="Text 4"/>
          <p:cNvSpPr txBox="1"/>
          <p:nvPr/>
        </p:nvSpPr>
        <p:spPr>
          <a:xfrm>
            <a:off x="7909560" y="5193792"/>
            <a:ext cx="3566160" cy="1005840"/>
          </a:xfrm>
          <a:prstGeom prst="rect">
            <a:avLst/>
          </a:prstGeom>
          <a:noFill/>
          <a:ln/>
        </p:spPr>
        <p:txBody>
          <a:bodyPr wrap="square" rtlCol="0" anchor="ctr"/>
          <a:lstStyle/>
          <a:p>
            <a:pPr indent="0" marL="0">
              <a:buNone/>
            </a:pPr>
            <a:r>
              <a:rPr lang="en-US" sz="1150" i="1" dirty="0">
                <a:solidFill>
                  <a:srgbClr val="C94F4F"/>
                </a:solidFill>
                <a:latin typeface="Calibri" pitchFamily="34" charset="0"/>
                <a:ea typeface="Calibri" pitchFamily="34" charset="-122"/>
                <a:cs typeface="Calibri" pitchFamily="34" charset="-120"/>
              </a:rPr>
              <a:t>This is exactly what let a single SQL-injection foothold reach the database and, from there, the entire network.</a:t>
            </a:r>
            <a:endParaRPr lang="en-US" sz="1150" dirty="0"/>
          </a:p>
        </p:txBody>
      </p:sp>
      <p:sp>
        <p:nvSpPr>
          <p:cNvPr id="8" name="Text 5"/>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9" name="Text 6"/>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2F9E56"/>
                </a:solidFill>
                <a:latin typeface="Calibri" pitchFamily="34" charset="0"/>
                <a:ea typeface="Calibri" pitchFamily="34" charset="-122"/>
                <a:cs typeface="Calibri" pitchFamily="34" charset="-120"/>
              </a:rPr>
              <a:t>NETWORK REDESIGN</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After: Defense-in-Depth Segmentation</a:t>
            </a:r>
            <a:endParaRPr lang="en-US" sz="3200" dirty="0"/>
          </a:p>
        </p:txBody>
      </p:sp>
      <p:pic>
        <p:nvPicPr>
          <p:cNvPr id="4" name="Image 0" descr="C:\Users\rareb\AppData\Local\Temp\claude\C--Users-rareb-OneDrive-Desktop-University-Of-Winnipeg-Case-Studies-Issues---Capstone-Project-V--Balogun-NSD-Fall-2023\288735ab-ce17-49e2-9255-b3c08ab0bae8\scratchpad\network-after.png">    </p:cNvPr>
          <p:cNvPicPr>
            <a:picLocks noChangeAspect="1"/>
          </p:cNvPicPr>
          <p:nvPr/>
        </p:nvPicPr>
        <p:blipFill>
          <a:blip r:embed="rId1"/>
          <a:stretch>
            <a:fillRect/>
          </a:stretch>
        </p:blipFill>
        <p:spPr>
          <a:xfrm>
            <a:off x="3749040" y="1417320"/>
            <a:ext cx="6172200" cy="5141062"/>
          </a:xfrm>
          <a:prstGeom prst="rect">
            <a:avLst/>
          </a:prstGeom>
        </p:spPr>
      </p:pic>
      <p:sp>
        <p:nvSpPr>
          <p:cNvPr id="5" name="Shape 2"/>
          <p:cNvSpPr/>
          <p:nvPr/>
        </p:nvSpPr>
        <p:spPr>
          <a:xfrm>
            <a:off x="548640" y="1600200"/>
            <a:ext cx="320040" cy="320040"/>
          </a:xfrm>
          <a:prstGeom prst="ellipse">
            <a:avLst/>
          </a:prstGeom>
          <a:solidFill>
            <a:srgbClr val="2F9E56"/>
          </a:solidFill>
          <a:ln/>
        </p:spPr>
      </p:sp>
      <p:sp>
        <p:nvSpPr>
          <p:cNvPr id="6" name="Text 3"/>
          <p:cNvSpPr txBox="1"/>
          <p:nvPr/>
        </p:nvSpPr>
        <p:spPr>
          <a:xfrm>
            <a:off x="1005840" y="1508760"/>
            <a:ext cx="146304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NGFW + Dual WAF</a:t>
            </a:r>
            <a:endParaRPr lang="en-US" sz="1250" dirty="0"/>
          </a:p>
        </p:txBody>
      </p:sp>
      <p:sp>
        <p:nvSpPr>
          <p:cNvPr id="7" name="Text 4"/>
          <p:cNvSpPr txBox="1"/>
          <p:nvPr/>
        </p:nvSpPr>
        <p:spPr>
          <a:xfrm>
            <a:off x="1005840" y="1847088"/>
            <a:ext cx="1463040" cy="4572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IPS, VPN, DLP at the perimeter; active-active WAF pair</a:t>
            </a:r>
            <a:endParaRPr lang="en-US" sz="1000" dirty="0"/>
          </a:p>
        </p:txBody>
      </p:sp>
      <p:sp>
        <p:nvSpPr>
          <p:cNvPr id="8" name="Shape 5"/>
          <p:cNvSpPr/>
          <p:nvPr/>
        </p:nvSpPr>
        <p:spPr>
          <a:xfrm>
            <a:off x="548640" y="2377440"/>
            <a:ext cx="320040" cy="320040"/>
          </a:xfrm>
          <a:prstGeom prst="ellipse">
            <a:avLst/>
          </a:prstGeom>
          <a:solidFill>
            <a:srgbClr val="2F9E56"/>
          </a:solidFill>
          <a:ln/>
        </p:spPr>
      </p:sp>
      <p:sp>
        <p:nvSpPr>
          <p:cNvPr id="9" name="Text 6"/>
          <p:cNvSpPr txBox="1"/>
          <p:nvPr/>
        </p:nvSpPr>
        <p:spPr>
          <a:xfrm>
            <a:off x="1005840" y="2286000"/>
            <a:ext cx="146304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3-Tier Isolation</a:t>
            </a:r>
            <a:endParaRPr lang="en-US" sz="1250" dirty="0"/>
          </a:p>
        </p:txBody>
      </p:sp>
      <p:sp>
        <p:nvSpPr>
          <p:cNvPr id="10" name="Text 7"/>
          <p:cNvSpPr txBox="1"/>
          <p:nvPr/>
        </p:nvSpPr>
        <p:spPr>
          <a:xfrm>
            <a:off x="1005840" y="2624328"/>
            <a:ext cx="1463040" cy="4572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DMZ → App Zone → Database Zone, each behind its own firewall</a:t>
            </a:r>
            <a:endParaRPr lang="en-US" sz="1000" dirty="0"/>
          </a:p>
        </p:txBody>
      </p:sp>
      <p:sp>
        <p:nvSpPr>
          <p:cNvPr id="11" name="Shape 8"/>
          <p:cNvSpPr/>
          <p:nvPr/>
        </p:nvSpPr>
        <p:spPr>
          <a:xfrm>
            <a:off x="548640" y="3154680"/>
            <a:ext cx="320040" cy="320040"/>
          </a:xfrm>
          <a:prstGeom prst="ellipse">
            <a:avLst/>
          </a:prstGeom>
          <a:solidFill>
            <a:srgbClr val="2F9E56"/>
          </a:solidFill>
          <a:ln/>
        </p:spPr>
      </p:sp>
      <p:sp>
        <p:nvSpPr>
          <p:cNvPr id="12" name="Text 9"/>
          <p:cNvSpPr txBox="1"/>
          <p:nvPr/>
        </p:nvSpPr>
        <p:spPr>
          <a:xfrm>
            <a:off x="1005840" y="3063240"/>
            <a:ext cx="146304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Dedicated CDE Firewall</a:t>
            </a:r>
            <a:endParaRPr lang="en-US" sz="1250" dirty="0"/>
          </a:p>
        </p:txBody>
      </p:sp>
      <p:sp>
        <p:nvSpPr>
          <p:cNvPr id="13" name="Text 10"/>
          <p:cNvSpPr txBox="1"/>
          <p:nvPr/>
        </p:nvSpPr>
        <p:spPr>
          <a:xfrm>
            <a:off x="1005840" y="3401568"/>
            <a:ext cx="1463040" cy="4572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Cardholder data isolated with an additional boundary</a:t>
            </a:r>
            <a:endParaRPr lang="en-US" sz="1000" dirty="0"/>
          </a:p>
        </p:txBody>
      </p:sp>
      <p:sp>
        <p:nvSpPr>
          <p:cNvPr id="14" name="Shape 11"/>
          <p:cNvSpPr/>
          <p:nvPr/>
        </p:nvSpPr>
        <p:spPr>
          <a:xfrm>
            <a:off x="548640" y="3931920"/>
            <a:ext cx="320040" cy="320040"/>
          </a:xfrm>
          <a:prstGeom prst="ellipse">
            <a:avLst/>
          </a:prstGeom>
          <a:solidFill>
            <a:srgbClr val="2F9E56"/>
          </a:solidFill>
          <a:ln/>
        </p:spPr>
      </p:sp>
      <p:sp>
        <p:nvSpPr>
          <p:cNvPr id="15" name="Text 12"/>
          <p:cNvSpPr txBox="1"/>
          <p:nvPr/>
        </p:nvSpPr>
        <p:spPr>
          <a:xfrm>
            <a:off x="1005840" y="3840480"/>
            <a:ext cx="1463040" cy="45720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Per-Department VLANs</a:t>
            </a:r>
            <a:endParaRPr lang="en-US" sz="1250" dirty="0"/>
          </a:p>
        </p:txBody>
      </p:sp>
      <p:sp>
        <p:nvSpPr>
          <p:cNvPr id="16" name="Text 13"/>
          <p:cNvSpPr txBox="1"/>
          <p:nvPr/>
        </p:nvSpPr>
        <p:spPr>
          <a:xfrm>
            <a:off x="1005840" y="4178808"/>
            <a:ext cx="1463040" cy="4572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HR, Finance, IT segmented to contain lateral movement</a:t>
            </a:r>
            <a:endParaRPr lang="en-US" sz="1000" dirty="0"/>
          </a:p>
        </p:txBody>
      </p:sp>
      <p:sp>
        <p:nvSpPr>
          <p:cNvPr id="17" name="Text 14"/>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8" name="Text 15"/>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2F9E56"/>
                </a:solidFill>
                <a:latin typeface="Calibri" pitchFamily="34" charset="0"/>
                <a:ea typeface="Calibri" pitchFamily="34" charset="-122"/>
                <a:cs typeface="Calibri" pitchFamily="34" charset="-120"/>
              </a:rPr>
              <a:t>NETWORK REDESIGN</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Cloud Migration Evidence: The Actual Azure Deployment</a:t>
            </a:r>
            <a:endParaRPr lang="en-US" sz="3200" dirty="0"/>
          </a:p>
        </p:txBody>
      </p:sp>
      <p:pic>
        <p:nvPicPr>
          <p:cNvPr id="4" name="Image 0" descr="C:\Users\rareb\OneDrive\Desktop\University Of Winnipeg\Case Studies Issues &amp; Capstone Project V. Balogun NSD Fall 2023\finsecure-network-security-capstone\evidence\cloud-migration\vnet-overview.jpg">    </p:cNvPr>
          <p:cNvPicPr>
            <a:picLocks noChangeAspect="1"/>
          </p:cNvPicPr>
          <p:nvPr/>
        </p:nvPicPr>
        <p:blipFill>
          <a:blip r:embed="rId1"/>
          <a:stretch>
            <a:fillRect/>
          </a:stretch>
        </p:blipFill>
        <p:spPr>
          <a:xfrm>
            <a:off x="2674620" y="1554480"/>
            <a:ext cx="3200400" cy="1691442"/>
          </a:xfrm>
          <a:prstGeom prst="rect">
            <a:avLst/>
          </a:prstGeom>
        </p:spPr>
      </p:pic>
      <p:sp>
        <p:nvSpPr>
          <p:cNvPr id="5" name="Shape 2"/>
          <p:cNvSpPr/>
          <p:nvPr/>
        </p:nvSpPr>
        <p:spPr>
          <a:xfrm>
            <a:off x="2674620" y="1554480"/>
            <a:ext cx="3200400" cy="1691442"/>
          </a:xfrm>
          <a:prstGeom prst="roundRect">
            <a:avLst/>
          </a:prstGeom>
          <a:ln w="19050">
            <a:solidFill>
              <a:srgbClr val="CADCFC"/>
            </a:solidFill>
            <a:prstDash val="solid"/>
          </a:ln>
        </p:spPr>
      </p:sp>
      <p:sp>
        <p:nvSpPr>
          <p:cNvPr id="6" name="Text 3"/>
          <p:cNvSpPr txBox="1"/>
          <p:nvPr/>
        </p:nvSpPr>
        <p:spPr>
          <a:xfrm>
            <a:off x="2674620" y="3319074"/>
            <a:ext cx="3200400" cy="4572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Fin-SecureVnet — the deployed virtual network, DDoS/Firewall-ready.</a:t>
            </a:r>
            <a:endParaRPr lang="en-US" sz="1050" dirty="0"/>
          </a:p>
        </p:txBody>
      </p:sp>
      <p:pic>
        <p:nvPicPr>
          <p:cNvPr id="7" name="Image 1" descr="C:\Users\rareb\OneDrive\Desktop\University Of Winnipeg\Case Studies Issues &amp; Capstone Project V. Balogun NSD Fall 2023\finsecure-network-security-capstone\evidence\cloud-migration\key-vault-creation.jpg">    </p:cNvPr>
          <p:cNvPicPr>
            <a:picLocks noChangeAspect="1"/>
          </p:cNvPicPr>
          <p:nvPr/>
        </p:nvPicPr>
        <p:blipFill>
          <a:blip r:embed="rId2"/>
          <a:stretch>
            <a:fillRect/>
          </a:stretch>
        </p:blipFill>
        <p:spPr>
          <a:xfrm>
            <a:off x="6332220" y="1554480"/>
            <a:ext cx="3200400" cy="1707894"/>
          </a:xfrm>
          <a:prstGeom prst="rect">
            <a:avLst/>
          </a:prstGeom>
        </p:spPr>
      </p:pic>
      <p:sp>
        <p:nvSpPr>
          <p:cNvPr id="8" name="Shape 4"/>
          <p:cNvSpPr/>
          <p:nvPr/>
        </p:nvSpPr>
        <p:spPr>
          <a:xfrm>
            <a:off x="6332220" y="1554480"/>
            <a:ext cx="3200400" cy="1707894"/>
          </a:xfrm>
          <a:prstGeom prst="roundRect">
            <a:avLst/>
          </a:prstGeom>
          <a:ln w="19050">
            <a:solidFill>
              <a:srgbClr val="CADCFC"/>
            </a:solidFill>
            <a:prstDash val="solid"/>
          </a:ln>
        </p:spPr>
      </p:sp>
      <p:sp>
        <p:nvSpPr>
          <p:cNvPr id="9" name="Text 5"/>
          <p:cNvSpPr txBox="1"/>
          <p:nvPr/>
        </p:nvSpPr>
        <p:spPr>
          <a:xfrm>
            <a:off x="6332220" y="3335526"/>
            <a:ext cx="3200400" cy="4572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FinSecureVault — centralized secrets and key management.</a:t>
            </a:r>
            <a:endParaRPr lang="en-US" sz="1050" dirty="0"/>
          </a:p>
        </p:txBody>
      </p:sp>
      <p:pic>
        <p:nvPicPr>
          <p:cNvPr id="10" name="Image 2" descr="C:\Users\rareb\OneDrive\Desktop\University Of Winnipeg\Case Studies Issues &amp; Capstone Project V. Balogun NSD Fall 2023\finsecure-network-security-capstone\evidence\cloud-migration\postgresql-tde.jpg">    </p:cNvPr>
          <p:cNvPicPr>
            <a:picLocks noChangeAspect="1"/>
          </p:cNvPicPr>
          <p:nvPr/>
        </p:nvPicPr>
        <p:blipFill>
          <a:blip r:embed="rId3"/>
          <a:stretch>
            <a:fillRect/>
          </a:stretch>
        </p:blipFill>
        <p:spPr>
          <a:xfrm>
            <a:off x="2674620" y="4022446"/>
            <a:ext cx="3200400" cy="1658767"/>
          </a:xfrm>
          <a:prstGeom prst="rect">
            <a:avLst/>
          </a:prstGeom>
        </p:spPr>
      </p:pic>
      <p:sp>
        <p:nvSpPr>
          <p:cNvPr id="11" name="Shape 6"/>
          <p:cNvSpPr/>
          <p:nvPr/>
        </p:nvSpPr>
        <p:spPr>
          <a:xfrm>
            <a:off x="2674620" y="4022446"/>
            <a:ext cx="3200400" cy="1658767"/>
          </a:xfrm>
          <a:prstGeom prst="roundRect">
            <a:avLst/>
          </a:prstGeom>
          <a:ln w="19050">
            <a:solidFill>
              <a:srgbClr val="CADCFC"/>
            </a:solidFill>
            <a:prstDash val="solid"/>
          </a:ln>
        </p:spPr>
      </p:sp>
      <p:sp>
        <p:nvSpPr>
          <p:cNvPr id="12" name="Text 7"/>
          <p:cNvSpPr txBox="1"/>
          <p:nvPr/>
        </p:nvSpPr>
        <p:spPr>
          <a:xfrm>
            <a:off x="2674620" y="5754365"/>
            <a:ext cx="3200400" cy="4572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Transparent Data Encryption enabled on the primary SQL database.</a:t>
            </a:r>
            <a:endParaRPr lang="en-US" sz="1050" dirty="0"/>
          </a:p>
        </p:txBody>
      </p:sp>
      <p:pic>
        <p:nvPicPr>
          <p:cNvPr id="13" name="Image 3" descr="C:\Users\rareb\OneDrive\Desktop\University Of Winnipeg\Case Studies Issues &amp; Capstone Project V. Balogun NSD Fall 2023\finsecure-network-security-capstone\evidence\cloud-migration\waf-policy-rules.jpg">    </p:cNvPr>
          <p:cNvPicPr>
            <a:picLocks noChangeAspect="1"/>
          </p:cNvPicPr>
          <p:nvPr/>
        </p:nvPicPr>
        <p:blipFill>
          <a:blip r:embed="rId4"/>
          <a:stretch>
            <a:fillRect/>
          </a:stretch>
        </p:blipFill>
        <p:spPr>
          <a:xfrm>
            <a:off x="6332220" y="4022446"/>
            <a:ext cx="3200400" cy="1698916"/>
          </a:xfrm>
          <a:prstGeom prst="rect">
            <a:avLst/>
          </a:prstGeom>
        </p:spPr>
      </p:pic>
      <p:sp>
        <p:nvSpPr>
          <p:cNvPr id="14" name="Shape 8"/>
          <p:cNvSpPr/>
          <p:nvPr/>
        </p:nvSpPr>
        <p:spPr>
          <a:xfrm>
            <a:off x="6332220" y="4022446"/>
            <a:ext cx="3200400" cy="1698916"/>
          </a:xfrm>
          <a:prstGeom prst="roundRect">
            <a:avLst/>
          </a:prstGeom>
          <a:ln w="19050">
            <a:solidFill>
              <a:srgbClr val="CADCFC"/>
            </a:solidFill>
            <a:prstDash val="solid"/>
          </a:ln>
        </p:spPr>
      </p:sp>
      <p:sp>
        <p:nvSpPr>
          <p:cNvPr id="15" name="Text 9"/>
          <p:cNvSpPr txBox="1"/>
          <p:nvPr/>
        </p:nvSpPr>
        <p:spPr>
          <a:xfrm>
            <a:off x="6332220" y="5794513"/>
            <a:ext cx="3200400" cy="45720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Azure WAF: 205 managed rules blocking SQLi, path traversal, known CVEs.</a:t>
            </a:r>
            <a:endParaRPr lang="en-US" sz="1050" dirty="0"/>
          </a:p>
        </p:txBody>
      </p:sp>
      <p:sp>
        <p:nvSpPr>
          <p:cNvPr id="16" name="Text 10"/>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7" name="Text 11"/>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ZERO TRUST ARCHITECTURE</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Why Zero Trust, Specifically for FinSecure</a:t>
            </a:r>
            <a:endParaRPr lang="en-US" sz="3200" dirty="0"/>
          </a:p>
        </p:txBody>
      </p:sp>
      <p:sp>
        <p:nvSpPr>
          <p:cNvPr id="4" name="Shape 2"/>
          <p:cNvSpPr/>
          <p:nvPr/>
        </p:nvSpPr>
        <p:spPr>
          <a:xfrm>
            <a:off x="548640" y="1783080"/>
            <a:ext cx="11109960" cy="1051560"/>
          </a:xfrm>
          <a:prstGeom prst="roundRect">
            <a:avLst>
              <a:gd name="adj" fmla="val 6957"/>
            </a:avLst>
          </a:prstGeom>
          <a:solidFill>
            <a:srgbClr val="FFFFFF"/>
          </a:solidFill>
          <a:ln w="12700">
            <a:solidFill>
              <a:srgbClr val="CADCFC"/>
            </a:solidFill>
            <a:prstDash val="solid"/>
          </a:ln>
          <a:effectLst>
            <a:outerShdw sx="100000" sy="100000" kx="0" ky="0" algn="bl" rotWithShape="0" blurRad="63500" dist="25400" dir="5400000">
              <a:srgbClr val="9AA5C7">
                <a:alpha val="25000"/>
              </a:srgbClr>
            </a:outerShdw>
          </a:effectLst>
        </p:spPr>
      </p:sp>
      <p:sp>
        <p:nvSpPr>
          <p:cNvPr id="5" name="Shape 3"/>
          <p:cNvSpPr/>
          <p:nvPr/>
        </p:nvSpPr>
        <p:spPr>
          <a:xfrm>
            <a:off x="548640" y="1783080"/>
            <a:ext cx="1737360" cy="1051560"/>
          </a:xfrm>
          <a:prstGeom prst="rect">
            <a:avLst>
              <a:gd name="adj" fmla="val 6957"/>
            </a:avLst>
          </a:prstGeom>
          <a:solidFill>
            <a:srgbClr val="1E2761"/>
          </a:solidFill>
          <a:ln/>
        </p:spPr>
      </p:sp>
      <p:sp>
        <p:nvSpPr>
          <p:cNvPr id="6" name="Text 4"/>
          <p:cNvSpPr txBox="1"/>
          <p:nvPr/>
        </p:nvSpPr>
        <p:spPr>
          <a:xfrm>
            <a:off x="548640" y="1783080"/>
            <a:ext cx="1737360" cy="10515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PCI DSS</a:t>
            </a:r>
            <a:endParaRPr lang="en-US" sz="1600" dirty="0"/>
          </a:p>
        </p:txBody>
      </p:sp>
      <p:sp>
        <p:nvSpPr>
          <p:cNvPr id="7" name="Text 5"/>
          <p:cNvSpPr txBox="1"/>
          <p:nvPr/>
        </p:nvSpPr>
        <p:spPr>
          <a:xfrm>
            <a:off x="2514600" y="1892808"/>
            <a:ext cx="4297680" cy="8229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Least privilege, MFA, network segmentation</a:t>
            </a:r>
            <a:endParaRPr lang="en-US" sz="1250" dirty="0"/>
          </a:p>
        </p:txBody>
      </p:sp>
      <p:sp>
        <p:nvSpPr>
          <p:cNvPr id="8" name="Text 6"/>
          <p:cNvSpPr txBox="1"/>
          <p:nvPr/>
        </p:nvSpPr>
        <p:spPr>
          <a:xfrm>
            <a:off x="6949440" y="1892808"/>
            <a:ext cx="4480560" cy="822960"/>
          </a:xfrm>
          <a:prstGeom prst="rect">
            <a:avLst/>
          </a:prstGeom>
          <a:noFill/>
          <a:ln/>
        </p:spPr>
        <p:txBody>
          <a:bodyPr wrap="square" rtlCol="0" anchor="ctr"/>
          <a:lstStyle/>
          <a:p>
            <a:pPr indent="0" marL="0">
              <a:buNone/>
            </a:pPr>
            <a:r>
              <a:rPr lang="en-US" sz="1250" i="1" dirty="0">
                <a:solidFill>
                  <a:srgbClr val="3B4A9E"/>
                </a:solidFill>
                <a:latin typeface="Calibri" pitchFamily="34" charset="0"/>
                <a:ea typeface="Calibri" pitchFamily="34" charset="-122"/>
                <a:cs typeface="Calibri" pitchFamily="34" charset="-120"/>
              </a:rPr>
              <a:t>→  Identity verification + micro-segmentation</a:t>
            </a:r>
            <a:endParaRPr lang="en-US" sz="1250" dirty="0"/>
          </a:p>
        </p:txBody>
      </p:sp>
      <p:sp>
        <p:nvSpPr>
          <p:cNvPr id="9" name="Shape 7"/>
          <p:cNvSpPr/>
          <p:nvPr/>
        </p:nvSpPr>
        <p:spPr>
          <a:xfrm>
            <a:off x="548640" y="3017520"/>
            <a:ext cx="11109960" cy="1051560"/>
          </a:xfrm>
          <a:prstGeom prst="roundRect">
            <a:avLst>
              <a:gd name="adj" fmla="val 6957"/>
            </a:avLst>
          </a:prstGeom>
          <a:solidFill>
            <a:srgbClr val="FFFFFF"/>
          </a:solidFill>
          <a:ln w="12700">
            <a:solidFill>
              <a:srgbClr val="CADCFC"/>
            </a:solidFill>
            <a:prstDash val="solid"/>
          </a:ln>
          <a:effectLst>
            <a:outerShdw sx="100000" sy="100000" kx="0" ky="0" algn="bl" rotWithShape="0" blurRad="63500" dist="25400" dir="5400000">
              <a:srgbClr val="9AA5C7">
                <a:alpha val="25000"/>
              </a:srgbClr>
            </a:outerShdw>
          </a:effectLst>
        </p:spPr>
      </p:sp>
      <p:sp>
        <p:nvSpPr>
          <p:cNvPr id="10" name="Shape 8"/>
          <p:cNvSpPr/>
          <p:nvPr/>
        </p:nvSpPr>
        <p:spPr>
          <a:xfrm>
            <a:off x="548640" y="3017520"/>
            <a:ext cx="1737360" cy="1051560"/>
          </a:xfrm>
          <a:prstGeom prst="rect">
            <a:avLst>
              <a:gd name="adj" fmla="val 6957"/>
            </a:avLst>
          </a:prstGeom>
          <a:solidFill>
            <a:srgbClr val="1E2761"/>
          </a:solidFill>
          <a:ln/>
        </p:spPr>
      </p:sp>
      <p:sp>
        <p:nvSpPr>
          <p:cNvPr id="11" name="Text 9"/>
          <p:cNvSpPr txBox="1"/>
          <p:nvPr/>
        </p:nvSpPr>
        <p:spPr>
          <a:xfrm>
            <a:off x="548640" y="3017520"/>
            <a:ext cx="1737360" cy="10515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SOX</a:t>
            </a:r>
            <a:endParaRPr lang="en-US" sz="1600" dirty="0"/>
          </a:p>
        </p:txBody>
      </p:sp>
      <p:sp>
        <p:nvSpPr>
          <p:cNvPr id="12" name="Text 10"/>
          <p:cNvSpPr txBox="1"/>
          <p:nvPr/>
        </p:nvSpPr>
        <p:spPr>
          <a:xfrm>
            <a:off x="2514600" y="3127248"/>
            <a:ext cx="4297680" cy="8229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Strong internal controls over financial data</a:t>
            </a:r>
            <a:endParaRPr lang="en-US" sz="1250" dirty="0"/>
          </a:p>
        </p:txBody>
      </p:sp>
      <p:sp>
        <p:nvSpPr>
          <p:cNvPr id="13" name="Text 11"/>
          <p:cNvSpPr txBox="1"/>
          <p:nvPr/>
        </p:nvSpPr>
        <p:spPr>
          <a:xfrm>
            <a:off x="6949440" y="3127248"/>
            <a:ext cx="4480560" cy="822960"/>
          </a:xfrm>
          <a:prstGeom prst="rect">
            <a:avLst/>
          </a:prstGeom>
          <a:noFill/>
          <a:ln/>
        </p:spPr>
        <p:txBody>
          <a:bodyPr wrap="square" rtlCol="0" anchor="ctr"/>
          <a:lstStyle/>
          <a:p>
            <a:pPr indent="0" marL="0">
              <a:buNone/>
            </a:pPr>
            <a:r>
              <a:rPr lang="en-US" sz="1250" i="1" dirty="0">
                <a:solidFill>
                  <a:srgbClr val="3B4A9E"/>
                </a:solidFill>
                <a:latin typeface="Calibri" pitchFamily="34" charset="0"/>
                <a:ea typeface="Calibri" pitchFamily="34" charset="-122"/>
                <a:cs typeface="Calibri" pitchFamily="34" charset="-120"/>
              </a:rPr>
              <a:t>→  Continuous verification, minimized trust boundaries</a:t>
            </a:r>
            <a:endParaRPr lang="en-US" sz="1250" dirty="0"/>
          </a:p>
        </p:txBody>
      </p:sp>
      <p:sp>
        <p:nvSpPr>
          <p:cNvPr id="14" name="Shape 12"/>
          <p:cNvSpPr/>
          <p:nvPr/>
        </p:nvSpPr>
        <p:spPr>
          <a:xfrm>
            <a:off x="548640" y="4251960"/>
            <a:ext cx="11109960" cy="1051560"/>
          </a:xfrm>
          <a:prstGeom prst="roundRect">
            <a:avLst>
              <a:gd name="adj" fmla="val 6957"/>
            </a:avLst>
          </a:prstGeom>
          <a:solidFill>
            <a:srgbClr val="FFFFFF"/>
          </a:solidFill>
          <a:ln w="12700">
            <a:solidFill>
              <a:srgbClr val="CADCFC"/>
            </a:solidFill>
            <a:prstDash val="solid"/>
          </a:ln>
          <a:effectLst>
            <a:outerShdw sx="100000" sy="100000" kx="0" ky="0" algn="bl" rotWithShape="0" blurRad="63500" dist="25400" dir="5400000">
              <a:srgbClr val="9AA5C7">
                <a:alpha val="25000"/>
              </a:srgbClr>
            </a:outerShdw>
          </a:effectLst>
        </p:spPr>
      </p:sp>
      <p:sp>
        <p:nvSpPr>
          <p:cNvPr id="15" name="Shape 13"/>
          <p:cNvSpPr/>
          <p:nvPr/>
        </p:nvSpPr>
        <p:spPr>
          <a:xfrm>
            <a:off x="548640" y="4251960"/>
            <a:ext cx="1737360" cy="1051560"/>
          </a:xfrm>
          <a:prstGeom prst="rect">
            <a:avLst>
              <a:gd name="adj" fmla="val 6957"/>
            </a:avLst>
          </a:prstGeom>
          <a:solidFill>
            <a:srgbClr val="1E2761"/>
          </a:solidFill>
          <a:ln/>
        </p:spPr>
      </p:sp>
      <p:sp>
        <p:nvSpPr>
          <p:cNvPr id="16" name="Text 14"/>
          <p:cNvSpPr txBox="1"/>
          <p:nvPr/>
        </p:nvSpPr>
        <p:spPr>
          <a:xfrm>
            <a:off x="548640" y="4251960"/>
            <a:ext cx="1737360" cy="105156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GLBA</a:t>
            </a:r>
            <a:endParaRPr lang="en-US" sz="1600" dirty="0"/>
          </a:p>
        </p:txBody>
      </p:sp>
      <p:sp>
        <p:nvSpPr>
          <p:cNvPr id="17" name="Text 15"/>
          <p:cNvSpPr txBox="1"/>
          <p:nvPr/>
        </p:nvSpPr>
        <p:spPr>
          <a:xfrm>
            <a:off x="2514600" y="4361688"/>
            <a:ext cx="4297680" cy="82296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Strong protection of nonpublic personal information</a:t>
            </a:r>
            <a:endParaRPr lang="en-US" sz="1250" dirty="0"/>
          </a:p>
        </p:txBody>
      </p:sp>
      <p:sp>
        <p:nvSpPr>
          <p:cNvPr id="18" name="Text 16"/>
          <p:cNvSpPr txBox="1"/>
          <p:nvPr/>
        </p:nvSpPr>
        <p:spPr>
          <a:xfrm>
            <a:off x="6949440" y="4361688"/>
            <a:ext cx="4480560" cy="822960"/>
          </a:xfrm>
          <a:prstGeom prst="rect">
            <a:avLst/>
          </a:prstGeom>
          <a:noFill/>
          <a:ln/>
        </p:spPr>
        <p:txBody>
          <a:bodyPr wrap="square" rtlCol="0" anchor="ctr"/>
          <a:lstStyle/>
          <a:p>
            <a:pPr indent="0" marL="0">
              <a:buNone/>
            </a:pPr>
            <a:r>
              <a:rPr lang="en-US" sz="1250" i="1" dirty="0">
                <a:solidFill>
                  <a:srgbClr val="3B4A9E"/>
                </a:solidFill>
                <a:latin typeface="Calibri" pitchFamily="34" charset="0"/>
                <a:ea typeface="Calibri" pitchFamily="34" charset="-122"/>
                <a:cs typeface="Calibri" pitchFamily="34" charset="-120"/>
              </a:rPr>
              <a:t>→  Least-privilege access model</a:t>
            </a:r>
            <a:endParaRPr lang="en-US" sz="1250" dirty="0"/>
          </a:p>
        </p:txBody>
      </p:sp>
      <p:sp>
        <p:nvSpPr>
          <p:cNvPr id="19" name="Text 17"/>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20" name="Text 18"/>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ZERO TRUST ARCHITECTURE</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How It Works: Never Trust, Always Verify</a:t>
            </a:r>
            <a:endParaRPr lang="en-US" sz="3200" dirty="0"/>
          </a:p>
        </p:txBody>
      </p:sp>
      <p:pic>
        <p:nvPicPr>
          <p:cNvPr id="4" name="Image 0" descr="C:\Users\rareb\AppData\Local\Temp\claude\C--Users-rareb-OneDrive-Desktop-University-Of-Winnipeg-Case-Studies-Issues---Capstone-Project-V--Balogun-NSD-Fall-2023\288735ab-ce17-49e2-9255-b3c08ab0bae8\scratchpad\zero-trust-flow.png">    </p:cNvPr>
          <p:cNvPicPr>
            <a:picLocks noChangeAspect="1"/>
          </p:cNvPicPr>
          <p:nvPr/>
        </p:nvPicPr>
        <p:blipFill>
          <a:blip r:embed="rId1"/>
          <a:stretch>
            <a:fillRect/>
          </a:stretch>
        </p:blipFill>
        <p:spPr>
          <a:xfrm>
            <a:off x="1965960" y="1554480"/>
            <a:ext cx="8229600" cy="3785721"/>
          </a:xfrm>
          <a:prstGeom prst="rect">
            <a:avLst/>
          </a:prstGeom>
        </p:spPr>
      </p:pic>
      <p:sp>
        <p:nvSpPr>
          <p:cNvPr id="5" name="Text 2"/>
          <p:cNvSpPr txBox="1"/>
          <p:nvPr/>
        </p:nvSpPr>
        <p:spPr>
          <a:xfrm>
            <a:off x="548640" y="5532120"/>
            <a:ext cx="11064240" cy="1051560"/>
          </a:xfrm>
          <a:prstGeom prst="rect">
            <a:avLst/>
          </a:prstGeom>
          <a:noFill/>
          <a:ln/>
        </p:spPr>
        <p:txBody>
          <a:bodyPr wrap="square" rtlCol="0" anchor="ctr"/>
          <a:lstStyle/>
          <a:p>
            <a:pPr indent="0" marL="0">
              <a:spcAft>
                <a:spcPts val="800"/>
              </a:spcAft>
              <a:buNone/>
            </a:pPr>
            <a:r>
              <a:rPr lang="en-US" sz="1250" dirty="0">
                <a:solidFill>
                  <a:srgbClr val="1A1A1A"/>
                </a:solidFill>
                <a:latin typeface="Calibri" pitchFamily="34" charset="0"/>
                <a:ea typeface="Calibri" pitchFamily="34" charset="-122"/>
                <a:cs typeface="Calibri" pitchFamily="34" charset="-120"/>
              </a:rPr>
              <a:t>1. Inventory users, devices, and data flow</a:t>
            </a:r>
            <a:endParaRPr lang="en-US" sz="1250" dirty="0"/>
          </a:p>
          <a:p>
            <a:pPr indent="0" marL="0">
              <a:spcAft>
                <a:spcPts val="800"/>
              </a:spcAft>
              <a:buNone/>
            </a:pPr>
            <a:r>
              <a:rPr lang="en-US" sz="1250" dirty="0">
                <a:solidFill>
                  <a:srgbClr val="1A1A1A"/>
                </a:solidFill>
                <a:latin typeface="Calibri" pitchFamily="34" charset="0"/>
                <a:ea typeface="Calibri" pitchFamily="34" charset="-122"/>
                <a:cs typeface="Calibri" pitchFamily="34" charset="-120"/>
              </a:rPr>
              <a:t>2. Define the protected surface (CDE + core servers)</a:t>
            </a:r>
            <a:endParaRPr lang="en-US" sz="1250" dirty="0"/>
          </a:p>
          <a:p>
            <a:pPr indent="0" marL="0">
              <a:spcAft>
                <a:spcPts val="800"/>
              </a:spcAft>
              <a:buNone/>
            </a:pPr>
            <a:r>
              <a:rPr lang="en-US" sz="1250" dirty="0">
                <a:solidFill>
                  <a:srgbClr val="1A1A1A"/>
                </a:solidFill>
                <a:latin typeface="Calibri" pitchFamily="34" charset="0"/>
                <a:ea typeface="Calibri" pitchFamily="34" charset="-122"/>
                <a:cs typeface="Calibri" pitchFamily="34" charset="-120"/>
              </a:rPr>
              <a:t>3. Deploy AAA + Active Directory: SSO, MFA, least privilege</a:t>
            </a:r>
            <a:endParaRPr lang="en-US" sz="1250" dirty="0"/>
          </a:p>
          <a:p>
            <a:pPr indent="0" marL="0">
              <a:spcAft>
                <a:spcPts val="800"/>
              </a:spcAft>
              <a:buNone/>
            </a:pPr>
            <a:r>
              <a:rPr lang="en-US" sz="1250" dirty="0">
                <a:solidFill>
                  <a:srgbClr val="1A1A1A"/>
                </a:solidFill>
                <a:latin typeface="Calibri" pitchFamily="34" charset="0"/>
                <a:ea typeface="Calibri" pitchFamily="34" charset="-122"/>
                <a:cs typeface="Calibri" pitchFamily="34" charset="-120"/>
              </a:rPr>
              <a:t>4. Continuous monitoring + automated NGFW response</a:t>
            </a:r>
            <a:endParaRPr lang="en-US" sz="1250" dirty="0"/>
          </a:p>
        </p:txBody>
      </p:sp>
      <p:sp>
        <p:nvSpPr>
          <p:cNvPr id="6" name="Text 3"/>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7" name="Text 4"/>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RISK ASSESSMENT</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Highest-Priority Risks (Rated Extreme)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109960" cy="3931920"/>
        </p:xfrm>
        <a:graphic>
          <a:graphicData uri="http://schemas.openxmlformats.org/drawingml/2006/table">
            <a:tbl>
              <a:tblPr/>
              <a:tblGrid>
                <a:gridCol w="3291840"/>
                <a:gridCol w="3703320"/>
                <a:gridCol w="4114800"/>
              </a:tblGrid>
              <a:tr h="6553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Asset</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Threat</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Top Control</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E2761"/>
                    </a:solidFill>
                  </a:tcPr>
                </a:tc>
              </a:tr>
              <a:tr h="65532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Customer / financial data</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Data breach via SQL injection</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Encryption at rest &amp; in transit, RBAC, DAM, admin MFA</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r>
              <a:tr h="65532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Security event data (SIEM)</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Log tampering, delayed detection</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Full log coverage, real-time alerts, IDS/IPS integration</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5532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User credentials / AD</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Privilege escalation, account hijacking</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MFA, least-privilege review, login auditing</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r>
              <a:tr h="65532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Authentication (AAA)</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Credential theft, denial of service</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Strong password policy, MFA, RADIUS in backbone</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55320">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Banking service availability</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Partial / total service loss</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c>
                  <a:txBody>
                    <a:bodyPr/>
                    <a:lstStyle/>
                    <a:p>
                      <a:pPr indent="0" marL="0">
                        <a:buNone/>
                      </a:pPr>
                      <a:r>
                        <a:rPr lang="en-US" sz="1150" dirty="0">
                          <a:solidFill>
                            <a:srgbClr val="1A1A1A"/>
                          </a:solidFill>
                          <a:latin typeface="Calibri" pitchFamily="34" charset="0"/>
                          <a:ea typeface="Calibri" pitchFamily="34" charset="-122"/>
                          <a:cs typeface="Calibri" pitchFamily="34" charset="-120"/>
                        </a:rPr>
                        <a:t>IR plan, BC/DR plans, GlobalTech comms matrix</a:t>
                      </a:r>
                      <a:endParaRPr lang="en-US" sz="1150" dirty="0">
                        <a:latin typeface="Calibri" charset="0"/>
                        <a:ea typeface="Calibri" charset="0"/>
                        <a:cs typeface="Calibri" charset="0"/>
                      </a:endParaRPr>
                    </a:p>
                  </a:txBody>
                  <a:tcPr marL="91440" marR="91440" marT="45720" marB="4572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4F6FB"/>
                    </a:solidFill>
                  </a:tcPr>
                </a:tc>
              </a:tr>
            </a:tbl>
          </a:graphicData>
        </a:graphic>
      </p:graphicFrame>
      <p:sp>
        <p:nvSpPr>
          <p:cNvPr id="5" name="Text 2"/>
          <p:cNvSpPr txBox="1"/>
          <p:nvPr/>
        </p:nvSpPr>
        <p:spPr>
          <a:xfrm>
            <a:off x="548640" y="5806440"/>
            <a:ext cx="11109960"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Full asset-by-asset register (18 risks) maintained in risk-assessment/risk-register.md</a:t>
            </a:r>
            <a:endParaRPr lang="en-US" sz="1100" dirty="0"/>
          </a:p>
        </p:txBody>
      </p:sp>
      <p:sp>
        <p:nvSpPr>
          <p:cNvPr id="6" name="Text 3"/>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7" name="Text 4"/>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NETWORK SECURITY POLICY</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What Now Governs the Network</a:t>
            </a:r>
            <a:endParaRPr lang="en-US" sz="3200" dirty="0"/>
          </a:p>
        </p:txBody>
      </p:sp>
      <p:sp>
        <p:nvSpPr>
          <p:cNvPr id="4" name="Shape 2"/>
          <p:cNvSpPr/>
          <p:nvPr/>
        </p:nvSpPr>
        <p:spPr>
          <a:xfrm>
            <a:off x="548640" y="1810512"/>
            <a:ext cx="73152" cy="640080"/>
          </a:xfrm>
          <a:prstGeom prst="rect">
            <a:avLst/>
          </a:prstGeom>
          <a:solidFill>
            <a:srgbClr val="1E2761"/>
          </a:solidFill>
          <a:ln/>
        </p:spPr>
      </p:sp>
      <p:sp>
        <p:nvSpPr>
          <p:cNvPr id="5" name="Text 3"/>
          <p:cNvSpPr txBox="1"/>
          <p:nvPr/>
        </p:nvSpPr>
        <p:spPr>
          <a:xfrm>
            <a:off x="868680" y="1737360"/>
            <a:ext cx="329184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Access Control</a:t>
            </a:r>
            <a:endParaRPr lang="en-US" sz="1400" dirty="0"/>
          </a:p>
        </p:txBody>
      </p:sp>
      <p:sp>
        <p:nvSpPr>
          <p:cNvPr id="6" name="Text 4"/>
          <p:cNvSpPr txBox="1"/>
          <p:nvPr/>
        </p:nvSpPr>
        <p:spPr>
          <a:xfrm>
            <a:off x="4297680" y="1737360"/>
            <a:ext cx="7315200" cy="77724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RBAC, least privilege, 12-char password minimum, AES-256 / TLS 1.2+</a:t>
            </a:r>
            <a:endParaRPr lang="en-US" sz="1250" dirty="0"/>
          </a:p>
        </p:txBody>
      </p:sp>
      <p:sp>
        <p:nvSpPr>
          <p:cNvPr id="7" name="Shape 5"/>
          <p:cNvSpPr/>
          <p:nvPr/>
        </p:nvSpPr>
        <p:spPr>
          <a:xfrm>
            <a:off x="548640" y="2651760"/>
            <a:ext cx="73152" cy="640080"/>
          </a:xfrm>
          <a:prstGeom prst="rect">
            <a:avLst/>
          </a:prstGeom>
          <a:solidFill>
            <a:srgbClr val="1E2761"/>
          </a:solidFill>
          <a:ln/>
        </p:spPr>
      </p:sp>
      <p:sp>
        <p:nvSpPr>
          <p:cNvPr id="8" name="Text 6"/>
          <p:cNvSpPr txBox="1"/>
          <p:nvPr/>
        </p:nvSpPr>
        <p:spPr>
          <a:xfrm>
            <a:off x="868680" y="2578608"/>
            <a:ext cx="329184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Monitoring &amp; Logging</a:t>
            </a:r>
            <a:endParaRPr lang="en-US" sz="1400" dirty="0"/>
          </a:p>
        </p:txBody>
      </p:sp>
      <p:sp>
        <p:nvSpPr>
          <p:cNvPr id="9" name="Text 7"/>
          <p:cNvSpPr txBox="1"/>
          <p:nvPr/>
        </p:nvSpPr>
        <p:spPr>
          <a:xfrm>
            <a:off x="4297680" y="2578608"/>
            <a:ext cx="7315200" cy="77724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Real-time SIEM, IDS/IPS, scheduled log audits</a:t>
            </a:r>
            <a:endParaRPr lang="en-US" sz="1250" dirty="0"/>
          </a:p>
        </p:txBody>
      </p:sp>
      <p:sp>
        <p:nvSpPr>
          <p:cNvPr id="10" name="Shape 8"/>
          <p:cNvSpPr/>
          <p:nvPr/>
        </p:nvSpPr>
        <p:spPr>
          <a:xfrm>
            <a:off x="548640" y="3493008"/>
            <a:ext cx="73152" cy="640080"/>
          </a:xfrm>
          <a:prstGeom prst="rect">
            <a:avLst/>
          </a:prstGeom>
          <a:solidFill>
            <a:srgbClr val="1E2761"/>
          </a:solidFill>
          <a:ln/>
        </p:spPr>
      </p:sp>
      <p:sp>
        <p:nvSpPr>
          <p:cNvPr id="11" name="Text 9"/>
          <p:cNvSpPr txBox="1"/>
          <p:nvPr/>
        </p:nvSpPr>
        <p:spPr>
          <a:xfrm>
            <a:off x="868680" y="3419856"/>
            <a:ext cx="329184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Remote Access &amp; Removable Media</a:t>
            </a:r>
            <a:endParaRPr lang="en-US" sz="1400" dirty="0"/>
          </a:p>
        </p:txBody>
      </p:sp>
      <p:sp>
        <p:nvSpPr>
          <p:cNvPr id="12" name="Text 10"/>
          <p:cNvSpPr txBox="1"/>
          <p:nvPr/>
        </p:nvSpPr>
        <p:spPr>
          <a:xfrm>
            <a:off x="4297680" y="3419856"/>
            <a:ext cx="7315200" cy="77724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VPN + MFA for every session; USB disabled on regulated-data endpoints</a:t>
            </a:r>
            <a:endParaRPr lang="en-US" sz="1250" dirty="0"/>
          </a:p>
        </p:txBody>
      </p:sp>
      <p:sp>
        <p:nvSpPr>
          <p:cNvPr id="13" name="Shape 11"/>
          <p:cNvSpPr/>
          <p:nvPr/>
        </p:nvSpPr>
        <p:spPr>
          <a:xfrm>
            <a:off x="548640" y="4334256"/>
            <a:ext cx="73152" cy="640080"/>
          </a:xfrm>
          <a:prstGeom prst="rect">
            <a:avLst/>
          </a:prstGeom>
          <a:solidFill>
            <a:srgbClr val="1E2761"/>
          </a:solidFill>
          <a:ln/>
        </p:spPr>
      </p:sp>
      <p:sp>
        <p:nvSpPr>
          <p:cNvPr id="14" name="Text 12"/>
          <p:cNvSpPr txBox="1"/>
          <p:nvPr/>
        </p:nvSpPr>
        <p:spPr>
          <a:xfrm>
            <a:off x="868680" y="4261104"/>
            <a:ext cx="329184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Third-Party / Vendor (B2B)</a:t>
            </a:r>
            <a:endParaRPr lang="en-US" sz="1400" dirty="0"/>
          </a:p>
        </p:txBody>
      </p:sp>
      <p:sp>
        <p:nvSpPr>
          <p:cNvPr id="15" name="Text 13"/>
          <p:cNvSpPr txBox="1"/>
          <p:nvPr/>
        </p:nvSpPr>
        <p:spPr>
          <a:xfrm>
            <a:off x="4297680" y="4261104"/>
            <a:ext cx="7315200" cy="77724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GlobalTech and future partners onboarded under the same RBAC &amp; segmentation rules</a:t>
            </a:r>
            <a:endParaRPr lang="en-US" sz="1250" dirty="0"/>
          </a:p>
        </p:txBody>
      </p:sp>
      <p:sp>
        <p:nvSpPr>
          <p:cNvPr id="16" name="Shape 14"/>
          <p:cNvSpPr/>
          <p:nvPr/>
        </p:nvSpPr>
        <p:spPr>
          <a:xfrm>
            <a:off x="548640" y="5175504"/>
            <a:ext cx="73152" cy="640080"/>
          </a:xfrm>
          <a:prstGeom prst="rect">
            <a:avLst/>
          </a:prstGeom>
          <a:solidFill>
            <a:srgbClr val="1E2761"/>
          </a:solidFill>
          <a:ln/>
        </p:spPr>
      </p:sp>
      <p:sp>
        <p:nvSpPr>
          <p:cNvPr id="17" name="Text 15"/>
          <p:cNvSpPr txBox="1"/>
          <p:nvPr/>
        </p:nvSpPr>
        <p:spPr>
          <a:xfrm>
            <a:off x="868680" y="5102352"/>
            <a:ext cx="3291840" cy="77724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Compliance &amp; Auditing</a:t>
            </a:r>
            <a:endParaRPr lang="en-US" sz="1400" dirty="0"/>
          </a:p>
        </p:txBody>
      </p:sp>
      <p:sp>
        <p:nvSpPr>
          <p:cNvPr id="18" name="Text 16"/>
          <p:cNvSpPr txBox="1"/>
          <p:nvPr/>
        </p:nvSpPr>
        <p:spPr>
          <a:xfrm>
            <a:off x="4297680" y="5102352"/>
            <a:ext cx="7315200" cy="777240"/>
          </a:xfrm>
          <a:prstGeom prst="rect">
            <a:avLst/>
          </a:prstGeom>
          <a:noFill/>
          <a:ln/>
        </p:spPr>
        <p:txBody>
          <a:bodyPr wrap="square" rtlCol="0" anchor="ctr"/>
          <a:lstStyle/>
          <a:p>
            <a:pPr indent="0" marL="0">
              <a:buNone/>
            </a:pPr>
            <a:r>
              <a:rPr lang="en-US" sz="1250" dirty="0">
                <a:solidFill>
                  <a:srgbClr val="1A1A1A"/>
                </a:solidFill>
                <a:latin typeface="Calibri" pitchFamily="34" charset="0"/>
                <a:ea typeface="Calibri" pitchFamily="34" charset="-122"/>
                <a:cs typeface="Calibri" pitchFamily="34" charset="-120"/>
              </a:rPr>
              <a:t>SOX, PCI DSS, and GLBA controls verified on a recurring schedule</a:t>
            </a:r>
            <a:endParaRPr lang="en-US" sz="1250" dirty="0"/>
          </a:p>
        </p:txBody>
      </p:sp>
      <p:sp>
        <p:nvSpPr>
          <p:cNvPr id="19" name="Text 17"/>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20" name="Text 18"/>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INCIDENT RESPONSE</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How We Responded to the Breach</a:t>
            </a:r>
            <a:endParaRPr lang="en-US" sz="3200" dirty="0"/>
          </a:p>
        </p:txBody>
      </p:sp>
      <p:sp>
        <p:nvSpPr>
          <p:cNvPr id="4" name="Shape 2"/>
          <p:cNvSpPr/>
          <p:nvPr/>
        </p:nvSpPr>
        <p:spPr>
          <a:xfrm>
            <a:off x="548640" y="2103120"/>
            <a:ext cx="2103120" cy="2286000"/>
          </a:xfrm>
          <a:prstGeom prst="roundRect">
            <a:avLst>
              <a:gd name="adj" fmla="val 4348"/>
            </a:avLst>
          </a:prstGeom>
          <a:solidFill>
            <a:srgbClr val="FFFFFF"/>
          </a:solidFill>
          <a:ln w="19050">
            <a:solidFill>
              <a:srgbClr val="1E2761"/>
            </a:solidFill>
            <a:prstDash val="solid"/>
          </a:ln>
        </p:spPr>
      </p:sp>
      <p:sp>
        <p:nvSpPr>
          <p:cNvPr id="5" name="Shape 3"/>
          <p:cNvSpPr/>
          <p:nvPr/>
        </p:nvSpPr>
        <p:spPr>
          <a:xfrm>
            <a:off x="1344168" y="2331720"/>
            <a:ext cx="512064" cy="512064"/>
          </a:xfrm>
          <a:prstGeom prst="ellipse">
            <a:avLst/>
          </a:prstGeom>
          <a:solidFill>
            <a:srgbClr val="1E2761"/>
          </a:solidFill>
          <a:ln/>
        </p:spPr>
      </p:sp>
      <p:sp>
        <p:nvSpPr>
          <p:cNvPr id="6" name="Text 4"/>
          <p:cNvSpPr txBox="1"/>
          <p:nvPr/>
        </p:nvSpPr>
        <p:spPr>
          <a:xfrm>
            <a:off x="1344168" y="2331720"/>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685800" y="2971800"/>
            <a:ext cx="1828800" cy="365760"/>
          </a:xfrm>
          <a:prstGeom prst="rect">
            <a:avLst/>
          </a:prstGeom>
          <a:noFill/>
          <a:ln/>
        </p:spPr>
        <p:txBody>
          <a:bodyPr wrap="square" lIns="0" tIns="0" rIns="0" bIns="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Contain</a:t>
            </a:r>
            <a:endParaRPr lang="en-US" sz="1400" dirty="0"/>
          </a:p>
        </p:txBody>
      </p:sp>
      <p:sp>
        <p:nvSpPr>
          <p:cNvPr id="8" name="Text 6"/>
          <p:cNvSpPr txBox="1"/>
          <p:nvPr/>
        </p:nvSpPr>
        <p:spPr>
          <a:xfrm>
            <a:off x="685800" y="3364992"/>
            <a:ext cx="1828800" cy="914400"/>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Disconnected the compromised server immediately</a:t>
            </a:r>
            <a:endParaRPr lang="en-US" sz="1050" dirty="0"/>
          </a:p>
        </p:txBody>
      </p:sp>
      <p:sp>
        <p:nvSpPr>
          <p:cNvPr id="9" name="Text 7"/>
          <p:cNvSpPr txBox="1"/>
          <p:nvPr/>
        </p:nvSpPr>
        <p:spPr>
          <a:xfrm>
            <a:off x="2651760" y="3063240"/>
            <a:ext cx="182880" cy="36576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788920" y="2103120"/>
            <a:ext cx="2103120" cy="2286000"/>
          </a:xfrm>
          <a:prstGeom prst="roundRect">
            <a:avLst>
              <a:gd name="adj" fmla="val 4348"/>
            </a:avLst>
          </a:prstGeom>
          <a:solidFill>
            <a:srgbClr val="FFFFFF"/>
          </a:solidFill>
          <a:ln w="19050">
            <a:solidFill>
              <a:srgbClr val="3B4A9E"/>
            </a:solidFill>
            <a:prstDash val="solid"/>
          </a:ln>
        </p:spPr>
      </p:sp>
      <p:sp>
        <p:nvSpPr>
          <p:cNvPr id="11" name="Shape 9"/>
          <p:cNvSpPr/>
          <p:nvPr/>
        </p:nvSpPr>
        <p:spPr>
          <a:xfrm>
            <a:off x="3584448" y="2331720"/>
            <a:ext cx="512064" cy="512064"/>
          </a:xfrm>
          <a:prstGeom prst="ellipse">
            <a:avLst/>
          </a:prstGeom>
          <a:solidFill>
            <a:srgbClr val="3B4A9E"/>
          </a:solidFill>
          <a:ln/>
        </p:spPr>
      </p:sp>
      <p:sp>
        <p:nvSpPr>
          <p:cNvPr id="12" name="Text 10"/>
          <p:cNvSpPr txBox="1"/>
          <p:nvPr/>
        </p:nvSpPr>
        <p:spPr>
          <a:xfrm>
            <a:off x="3584448" y="2331720"/>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2926080" y="2971800"/>
            <a:ext cx="1828800" cy="365760"/>
          </a:xfrm>
          <a:prstGeom prst="rect">
            <a:avLst/>
          </a:prstGeom>
          <a:noFill/>
          <a:ln/>
        </p:spPr>
        <p:txBody>
          <a:bodyPr wrap="square" lIns="0" tIns="0" rIns="0" bIns="0" rtlCol="0" anchor="ctr"/>
          <a:lstStyle/>
          <a:p>
            <a:pPr algn="ctr" indent="0" marL="0">
              <a:buNone/>
            </a:pPr>
            <a:r>
              <a:rPr lang="en-US" sz="1400" b="1" dirty="0">
                <a:solidFill>
                  <a:srgbClr val="3B4A9E"/>
                </a:solidFill>
                <a:latin typeface="Calibri" pitchFamily="34" charset="0"/>
                <a:ea typeface="Calibri" pitchFamily="34" charset="-122"/>
                <a:cs typeface="Calibri" pitchFamily="34" charset="-120"/>
              </a:rPr>
              <a:t>Investigate</a:t>
            </a:r>
            <a:endParaRPr lang="en-US" sz="1400" dirty="0"/>
          </a:p>
        </p:txBody>
      </p:sp>
      <p:sp>
        <p:nvSpPr>
          <p:cNvPr id="14" name="Text 12"/>
          <p:cNvSpPr txBox="1"/>
          <p:nvPr/>
        </p:nvSpPr>
        <p:spPr>
          <a:xfrm>
            <a:off x="2926080" y="3364992"/>
            <a:ext cx="1828800" cy="914400"/>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Cross-functional IR team, forensic investigation</a:t>
            </a:r>
            <a:endParaRPr lang="en-US" sz="1050" dirty="0"/>
          </a:p>
        </p:txBody>
      </p:sp>
      <p:sp>
        <p:nvSpPr>
          <p:cNvPr id="15" name="Text 13"/>
          <p:cNvSpPr txBox="1"/>
          <p:nvPr/>
        </p:nvSpPr>
        <p:spPr>
          <a:xfrm>
            <a:off x="4892040" y="3063240"/>
            <a:ext cx="182880" cy="36576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5029200" y="2103120"/>
            <a:ext cx="2103120" cy="2286000"/>
          </a:xfrm>
          <a:prstGeom prst="roundRect">
            <a:avLst>
              <a:gd name="adj" fmla="val 4348"/>
            </a:avLst>
          </a:prstGeom>
          <a:solidFill>
            <a:srgbClr val="FFFFFF"/>
          </a:solidFill>
          <a:ln w="19050">
            <a:solidFill>
              <a:srgbClr val="C9A227"/>
            </a:solidFill>
            <a:prstDash val="solid"/>
          </a:ln>
        </p:spPr>
      </p:sp>
      <p:sp>
        <p:nvSpPr>
          <p:cNvPr id="17" name="Shape 15"/>
          <p:cNvSpPr/>
          <p:nvPr/>
        </p:nvSpPr>
        <p:spPr>
          <a:xfrm>
            <a:off x="5824728" y="2331720"/>
            <a:ext cx="512064" cy="512064"/>
          </a:xfrm>
          <a:prstGeom prst="ellipse">
            <a:avLst/>
          </a:prstGeom>
          <a:solidFill>
            <a:srgbClr val="C9A227"/>
          </a:solidFill>
          <a:ln/>
        </p:spPr>
      </p:sp>
      <p:sp>
        <p:nvSpPr>
          <p:cNvPr id="18" name="Text 16"/>
          <p:cNvSpPr txBox="1"/>
          <p:nvPr/>
        </p:nvSpPr>
        <p:spPr>
          <a:xfrm>
            <a:off x="5824728" y="2331720"/>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5166360" y="2971800"/>
            <a:ext cx="1828800" cy="365760"/>
          </a:xfrm>
          <a:prstGeom prst="rect">
            <a:avLst/>
          </a:prstGeom>
          <a:noFill/>
          <a:ln/>
        </p:spPr>
        <p:txBody>
          <a:bodyPr wrap="square" lIns="0" tIns="0" rIns="0" bIns="0" rtlCol="0" anchor="ctr"/>
          <a:lstStyle/>
          <a:p>
            <a:pPr algn="ctr" indent="0" marL="0">
              <a:buNone/>
            </a:pPr>
            <a:r>
              <a:rPr lang="en-US" sz="1400" b="1" dirty="0">
                <a:solidFill>
                  <a:srgbClr val="C9A227"/>
                </a:solidFill>
                <a:latin typeface="Calibri" pitchFamily="34" charset="0"/>
                <a:ea typeface="Calibri" pitchFamily="34" charset="-122"/>
                <a:cs typeface="Calibri" pitchFamily="34" charset="-120"/>
              </a:rPr>
              <a:t>Notify</a:t>
            </a:r>
            <a:endParaRPr lang="en-US" sz="1400" dirty="0"/>
          </a:p>
        </p:txBody>
      </p:sp>
      <p:sp>
        <p:nvSpPr>
          <p:cNvPr id="20" name="Text 18"/>
          <p:cNvSpPr txBox="1"/>
          <p:nvPr/>
        </p:nvSpPr>
        <p:spPr>
          <a:xfrm>
            <a:off x="5166360" y="3364992"/>
            <a:ext cx="1828800" cy="914400"/>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Affected clients, including GlobalTech, informed promptly</a:t>
            </a:r>
            <a:endParaRPr lang="en-US" sz="1050" dirty="0"/>
          </a:p>
        </p:txBody>
      </p:sp>
      <p:sp>
        <p:nvSpPr>
          <p:cNvPr id="21" name="Text 19"/>
          <p:cNvSpPr txBox="1"/>
          <p:nvPr/>
        </p:nvSpPr>
        <p:spPr>
          <a:xfrm>
            <a:off x="7132320" y="3063240"/>
            <a:ext cx="182880" cy="36576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7269480" y="2103120"/>
            <a:ext cx="2103120" cy="2286000"/>
          </a:xfrm>
          <a:prstGeom prst="roundRect">
            <a:avLst>
              <a:gd name="adj" fmla="val 4348"/>
            </a:avLst>
          </a:prstGeom>
          <a:solidFill>
            <a:srgbClr val="FFFFFF"/>
          </a:solidFill>
          <a:ln w="19050">
            <a:solidFill>
              <a:srgbClr val="2F9E56"/>
            </a:solidFill>
            <a:prstDash val="solid"/>
          </a:ln>
        </p:spPr>
      </p:sp>
      <p:sp>
        <p:nvSpPr>
          <p:cNvPr id="23" name="Shape 21"/>
          <p:cNvSpPr/>
          <p:nvPr/>
        </p:nvSpPr>
        <p:spPr>
          <a:xfrm>
            <a:off x="8065008" y="2331720"/>
            <a:ext cx="512064" cy="512064"/>
          </a:xfrm>
          <a:prstGeom prst="ellipse">
            <a:avLst/>
          </a:prstGeom>
          <a:solidFill>
            <a:srgbClr val="2F9E56"/>
          </a:solidFill>
          <a:ln/>
        </p:spPr>
      </p:sp>
      <p:sp>
        <p:nvSpPr>
          <p:cNvPr id="24" name="Text 22"/>
          <p:cNvSpPr txBox="1"/>
          <p:nvPr/>
        </p:nvSpPr>
        <p:spPr>
          <a:xfrm>
            <a:off x="8065008" y="2331720"/>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txBox="1"/>
          <p:nvPr/>
        </p:nvSpPr>
        <p:spPr>
          <a:xfrm>
            <a:off x="7406640" y="2971800"/>
            <a:ext cx="1828800" cy="365760"/>
          </a:xfrm>
          <a:prstGeom prst="rect">
            <a:avLst/>
          </a:prstGeom>
          <a:noFill/>
          <a:ln/>
        </p:spPr>
        <p:txBody>
          <a:bodyPr wrap="square" lIns="0" tIns="0" rIns="0" bIns="0" rtlCol="0" anchor="ctr"/>
          <a:lstStyle/>
          <a:p>
            <a:pPr algn="ctr" indent="0" marL="0">
              <a:buNone/>
            </a:pPr>
            <a:r>
              <a:rPr lang="en-US" sz="1400" b="1" dirty="0">
                <a:solidFill>
                  <a:srgbClr val="2F9E56"/>
                </a:solidFill>
                <a:latin typeface="Calibri" pitchFamily="34" charset="0"/>
                <a:ea typeface="Calibri" pitchFamily="34" charset="-122"/>
                <a:cs typeface="Calibri" pitchFamily="34" charset="-120"/>
              </a:rPr>
              <a:t>Recover</a:t>
            </a:r>
            <a:endParaRPr lang="en-US" sz="1400" dirty="0"/>
          </a:p>
        </p:txBody>
      </p:sp>
      <p:sp>
        <p:nvSpPr>
          <p:cNvPr id="26" name="Text 24"/>
          <p:cNvSpPr txBox="1"/>
          <p:nvPr/>
        </p:nvSpPr>
        <p:spPr>
          <a:xfrm>
            <a:off x="7406640" y="3364992"/>
            <a:ext cx="1828800" cy="914400"/>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Restored from backup; deployed WAF, dedicated CDE, new AAA+MFA</a:t>
            </a:r>
            <a:endParaRPr lang="en-US" sz="1050" dirty="0"/>
          </a:p>
        </p:txBody>
      </p:sp>
      <p:sp>
        <p:nvSpPr>
          <p:cNvPr id="27" name="Text 25"/>
          <p:cNvSpPr txBox="1"/>
          <p:nvPr/>
        </p:nvSpPr>
        <p:spPr>
          <a:xfrm>
            <a:off x="9372600" y="3063240"/>
            <a:ext cx="182880" cy="365760"/>
          </a:xfrm>
          <a:prstGeom prst="rect">
            <a:avLst/>
          </a:prstGeom>
          <a:noFill/>
          <a:ln/>
        </p:spPr>
        <p:txBody>
          <a:bodyPr wrap="square" lIns="0" tIns="0" rIns="0" bIns="0" rtlCol="0" anchor="ctr"/>
          <a:lstStyle/>
          <a:p>
            <a:pPr algn="ct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9509760" y="2103120"/>
            <a:ext cx="2103120" cy="2286000"/>
          </a:xfrm>
          <a:prstGeom prst="roundRect">
            <a:avLst>
              <a:gd name="adj" fmla="val 4348"/>
            </a:avLst>
          </a:prstGeom>
          <a:solidFill>
            <a:srgbClr val="FFFFFF"/>
          </a:solidFill>
          <a:ln w="19050">
            <a:solidFill>
              <a:srgbClr val="C94F4F"/>
            </a:solidFill>
            <a:prstDash val="solid"/>
          </a:ln>
        </p:spPr>
      </p:sp>
      <p:sp>
        <p:nvSpPr>
          <p:cNvPr id="29" name="Shape 27"/>
          <p:cNvSpPr/>
          <p:nvPr/>
        </p:nvSpPr>
        <p:spPr>
          <a:xfrm>
            <a:off x="10305288" y="2331720"/>
            <a:ext cx="512064" cy="512064"/>
          </a:xfrm>
          <a:prstGeom prst="ellipse">
            <a:avLst/>
          </a:prstGeom>
          <a:solidFill>
            <a:srgbClr val="C94F4F"/>
          </a:solidFill>
          <a:ln/>
        </p:spPr>
      </p:sp>
      <p:sp>
        <p:nvSpPr>
          <p:cNvPr id="30" name="Text 28"/>
          <p:cNvSpPr txBox="1"/>
          <p:nvPr/>
        </p:nvSpPr>
        <p:spPr>
          <a:xfrm>
            <a:off x="10305288" y="2331720"/>
            <a:ext cx="512064" cy="512064"/>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1" name="Text 29"/>
          <p:cNvSpPr txBox="1"/>
          <p:nvPr/>
        </p:nvSpPr>
        <p:spPr>
          <a:xfrm>
            <a:off x="9646920" y="2971800"/>
            <a:ext cx="1828800" cy="365760"/>
          </a:xfrm>
          <a:prstGeom prst="rect">
            <a:avLst/>
          </a:prstGeom>
          <a:noFill/>
          <a:ln/>
        </p:spPr>
        <p:txBody>
          <a:bodyPr wrap="square" lIns="0" tIns="0" rIns="0" bIns="0" rtlCol="0" anchor="ctr"/>
          <a:lstStyle/>
          <a:p>
            <a:pPr algn="ctr" indent="0" marL="0">
              <a:buNone/>
            </a:pPr>
            <a:r>
              <a:rPr lang="en-US" sz="1400" b="1" dirty="0">
                <a:solidFill>
                  <a:srgbClr val="C94F4F"/>
                </a:solidFill>
                <a:latin typeface="Calibri" pitchFamily="34" charset="0"/>
                <a:ea typeface="Calibri" pitchFamily="34" charset="-122"/>
                <a:cs typeface="Calibri" pitchFamily="34" charset="-120"/>
              </a:rPr>
              <a:t>Review</a:t>
            </a:r>
            <a:endParaRPr lang="en-US" sz="1400" dirty="0"/>
          </a:p>
        </p:txBody>
      </p:sp>
      <p:sp>
        <p:nvSpPr>
          <p:cNvPr id="32" name="Text 30"/>
          <p:cNvSpPr txBox="1"/>
          <p:nvPr/>
        </p:nvSpPr>
        <p:spPr>
          <a:xfrm>
            <a:off x="9646920" y="3364992"/>
            <a:ext cx="1828800" cy="914400"/>
          </a:xfrm>
          <a:prstGeom prst="rect">
            <a:avLst/>
          </a:prstGeom>
          <a:noFill/>
          <a:ln/>
        </p:spPr>
        <p:txBody>
          <a:bodyPr wrap="square" lIns="0" tIns="0" rIns="0" bIns="0" rtlCol="0" anchor="ctr"/>
          <a:lstStyle/>
          <a:p>
            <a:pPr algn="ctr" indent="0" marL="0">
              <a:buNone/>
            </a:pPr>
            <a:r>
              <a:rPr lang="en-US" sz="1050" dirty="0">
                <a:solidFill>
                  <a:srgbClr val="1A1A1A"/>
                </a:solidFill>
                <a:latin typeface="Calibri" pitchFamily="34" charset="0"/>
                <a:ea typeface="Calibri" pitchFamily="34" charset="-122"/>
                <a:cs typeface="Calibri" pitchFamily="34" charset="-120"/>
              </a:rPr>
              <a:t>Independent third-party compliance audit</a:t>
            </a:r>
            <a:endParaRPr lang="en-US" sz="1050" dirty="0"/>
          </a:p>
        </p:txBody>
      </p:sp>
      <p:sp>
        <p:nvSpPr>
          <p:cNvPr id="33" name="Text 31"/>
          <p:cNvSpPr txBox="1"/>
          <p:nvPr/>
        </p:nvSpPr>
        <p:spPr>
          <a:xfrm>
            <a:off x="548640" y="4709160"/>
            <a:ext cx="11109960" cy="822960"/>
          </a:xfrm>
          <a:prstGeom prst="rect">
            <a:avLst/>
          </a:prstGeom>
          <a:noFill/>
          <a:ln/>
        </p:spPr>
        <p:txBody>
          <a:bodyPr wrap="square"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Lessons learned: stronger vulnerability management, a documented IR plan, retuned SIEM alerting, and specialized IT training on distinguishing false positives from real incidents.</a:t>
            </a:r>
            <a:endParaRPr lang="en-US" sz="1250" dirty="0"/>
          </a:p>
        </p:txBody>
      </p:sp>
      <p:sp>
        <p:nvSpPr>
          <p:cNvPr id="34" name="Text 32"/>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35" name="Text 33"/>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65760"/>
            <a:ext cx="7315200" cy="320040"/>
          </a:xfrm>
          <a:prstGeom prst="rect">
            <a:avLst/>
          </a:prstGeom>
          <a:noFill/>
          <a:ln/>
        </p:spPr>
        <p:txBody>
          <a:bodyPr wrap="square" rtlCol="0" anchor="ctr"/>
          <a:lstStyle/>
          <a:p>
            <a:pPr indent="0" marL="0">
              <a:buNone/>
            </a:pPr>
            <a:r>
              <a:rPr lang="en-US" sz="1200" b="1" spc="200" kern="0" dirty="0">
                <a:solidFill>
                  <a:srgbClr val="1E2761"/>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658368"/>
            <a:ext cx="11064240" cy="82296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Compliance Achieved — What's Next</a:t>
            </a:r>
            <a:endParaRPr lang="en-US" sz="3200" dirty="0"/>
          </a:p>
        </p:txBody>
      </p:sp>
      <p:sp>
        <p:nvSpPr>
          <p:cNvPr id="4" name="Shape 2"/>
          <p:cNvSpPr/>
          <p:nvPr/>
        </p:nvSpPr>
        <p:spPr>
          <a:xfrm>
            <a:off x="548640" y="1737360"/>
            <a:ext cx="5394960" cy="3931920"/>
          </a:xfrm>
          <a:prstGeom prst="roundRect">
            <a:avLst>
              <a:gd name="adj" fmla="val 2326"/>
            </a:avLst>
          </a:prstGeom>
          <a:solidFill>
            <a:srgbClr val="2F9E56">
              <a:alpha val="10000"/>
            </a:srgbClr>
          </a:solidFill>
          <a:ln w="12700">
            <a:solidFill>
              <a:srgbClr val="2F9E56"/>
            </a:solidFill>
            <a:prstDash val="solid"/>
          </a:ln>
        </p:spPr>
      </p:sp>
      <p:sp>
        <p:nvSpPr>
          <p:cNvPr id="5" name="Text 3"/>
          <p:cNvSpPr txBox="1"/>
          <p:nvPr/>
        </p:nvSpPr>
        <p:spPr>
          <a:xfrm>
            <a:off x="822960" y="1920240"/>
            <a:ext cx="4846320" cy="320040"/>
          </a:xfrm>
          <a:prstGeom prst="rect">
            <a:avLst/>
          </a:prstGeom>
          <a:noFill/>
          <a:ln/>
        </p:spPr>
        <p:txBody>
          <a:bodyPr wrap="square" rtlCol="0" anchor="ctr"/>
          <a:lstStyle/>
          <a:p>
            <a:pPr indent="0" marL="0">
              <a:buNone/>
            </a:pPr>
            <a:r>
              <a:rPr lang="en-US" sz="1200" b="1" spc="150" kern="0" dirty="0">
                <a:solidFill>
                  <a:srgbClr val="2F9E56"/>
                </a:solidFill>
                <a:latin typeface="Calibri" pitchFamily="34" charset="0"/>
                <a:ea typeface="Calibri" pitchFamily="34" charset="-122"/>
                <a:cs typeface="Calibri" pitchFamily="34" charset="-120"/>
              </a:rPr>
              <a:t>COMPLIANCE STATUS</a:t>
            </a:r>
            <a:endParaRPr lang="en-US" sz="1200" dirty="0"/>
          </a:p>
        </p:txBody>
      </p:sp>
      <p:sp>
        <p:nvSpPr>
          <p:cNvPr id="6" name="Text 4"/>
          <p:cNvSpPr txBox="1"/>
          <p:nvPr/>
        </p:nvSpPr>
        <p:spPr>
          <a:xfrm>
            <a:off x="822960" y="2377440"/>
            <a:ext cx="365760" cy="548640"/>
          </a:xfrm>
          <a:prstGeom prst="rect">
            <a:avLst/>
          </a:prstGeom>
          <a:noFill/>
          <a:ln/>
        </p:spPr>
        <p:txBody>
          <a:bodyPr wrap="square" rtlCol="0" anchor="ctr"/>
          <a:lstStyle/>
          <a:p>
            <a:pPr indent="0" marL="0">
              <a:buNone/>
            </a:pPr>
            <a:r>
              <a:rPr lang="en-US" sz="1800" b="1" dirty="0">
                <a:solidFill>
                  <a:srgbClr val="2F9E56"/>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1234440" y="2395728"/>
            <a:ext cx="4480560" cy="5943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SOX — access controls &amp; audit trail</a:t>
            </a:r>
            <a:endParaRPr lang="en-US" sz="1300" dirty="0"/>
          </a:p>
        </p:txBody>
      </p:sp>
      <p:sp>
        <p:nvSpPr>
          <p:cNvPr id="8" name="Text 6"/>
          <p:cNvSpPr txBox="1"/>
          <p:nvPr/>
        </p:nvSpPr>
        <p:spPr>
          <a:xfrm>
            <a:off x="822960" y="3154680"/>
            <a:ext cx="365760" cy="548640"/>
          </a:xfrm>
          <a:prstGeom prst="rect">
            <a:avLst/>
          </a:prstGeom>
          <a:noFill/>
          <a:ln/>
        </p:spPr>
        <p:txBody>
          <a:bodyPr wrap="square" rtlCol="0" anchor="ctr"/>
          <a:lstStyle/>
          <a:p>
            <a:pPr indent="0" marL="0">
              <a:buNone/>
            </a:pPr>
            <a:r>
              <a:rPr lang="en-US" sz="1800" b="1" dirty="0">
                <a:solidFill>
                  <a:srgbClr val="2F9E56"/>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1234440" y="3172968"/>
            <a:ext cx="4480560" cy="5943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PCI DSS — cardholder data isolated &amp; encrypted</a:t>
            </a:r>
            <a:endParaRPr lang="en-US" sz="1300" dirty="0"/>
          </a:p>
        </p:txBody>
      </p:sp>
      <p:sp>
        <p:nvSpPr>
          <p:cNvPr id="10" name="Text 8"/>
          <p:cNvSpPr txBox="1"/>
          <p:nvPr/>
        </p:nvSpPr>
        <p:spPr>
          <a:xfrm>
            <a:off x="822960" y="3931920"/>
            <a:ext cx="365760" cy="548640"/>
          </a:xfrm>
          <a:prstGeom prst="rect">
            <a:avLst/>
          </a:prstGeom>
          <a:noFill/>
          <a:ln/>
        </p:spPr>
        <p:txBody>
          <a:bodyPr wrap="square" rtlCol="0" anchor="ctr"/>
          <a:lstStyle/>
          <a:p>
            <a:pPr indent="0" marL="0">
              <a:buNone/>
            </a:pPr>
            <a:r>
              <a:rPr lang="en-US" sz="1800" b="1" dirty="0">
                <a:solidFill>
                  <a:srgbClr val="2F9E56"/>
                </a:solidFill>
                <a:latin typeface="Calibri" pitchFamily="34" charset="0"/>
                <a:ea typeface="Calibri" pitchFamily="34" charset="-122"/>
                <a:cs typeface="Calibri" pitchFamily="34" charset="-120"/>
              </a:rPr>
              <a:t>✓</a:t>
            </a:r>
            <a:endParaRPr lang="en-US" sz="1800" dirty="0"/>
          </a:p>
        </p:txBody>
      </p:sp>
      <p:sp>
        <p:nvSpPr>
          <p:cNvPr id="11" name="Text 9"/>
          <p:cNvSpPr txBox="1"/>
          <p:nvPr/>
        </p:nvSpPr>
        <p:spPr>
          <a:xfrm>
            <a:off x="1234440" y="3950208"/>
            <a:ext cx="4480560" cy="5943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GLBA — NPI protected, access classified</a:t>
            </a:r>
            <a:endParaRPr lang="en-US" sz="1300" dirty="0"/>
          </a:p>
        </p:txBody>
      </p:sp>
      <p:sp>
        <p:nvSpPr>
          <p:cNvPr id="12" name="Text 10"/>
          <p:cNvSpPr txBox="1"/>
          <p:nvPr/>
        </p:nvSpPr>
        <p:spPr>
          <a:xfrm>
            <a:off x="822960" y="4709160"/>
            <a:ext cx="365760" cy="548640"/>
          </a:xfrm>
          <a:prstGeom prst="rect">
            <a:avLst/>
          </a:prstGeom>
          <a:noFill/>
          <a:ln/>
        </p:spPr>
        <p:txBody>
          <a:bodyPr wrap="square" rtlCol="0" anchor="ctr"/>
          <a:lstStyle/>
          <a:p>
            <a:pPr indent="0" marL="0">
              <a:buNone/>
            </a:pPr>
            <a:r>
              <a:rPr lang="en-US" sz="1800" b="1" dirty="0">
                <a:solidFill>
                  <a:srgbClr val="2F9E56"/>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1234440" y="4727448"/>
            <a:ext cx="4480560" cy="5943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NIST CSF — Identify/Protect/Detect/Respond/Recover mapped</a:t>
            </a:r>
            <a:endParaRPr lang="en-US" sz="1300" dirty="0"/>
          </a:p>
        </p:txBody>
      </p:sp>
      <p:sp>
        <p:nvSpPr>
          <p:cNvPr id="14" name="Shape 12"/>
          <p:cNvSpPr/>
          <p:nvPr/>
        </p:nvSpPr>
        <p:spPr>
          <a:xfrm>
            <a:off x="6263640" y="1737360"/>
            <a:ext cx="5394960" cy="3931920"/>
          </a:xfrm>
          <a:prstGeom prst="roundRect">
            <a:avLst>
              <a:gd name="adj" fmla="val 2326"/>
            </a:avLst>
          </a:prstGeom>
          <a:solidFill>
            <a:srgbClr val="FFFFFF"/>
          </a:solidFill>
          <a:ln w="12700">
            <a:solidFill>
              <a:srgbClr val="CADCFC"/>
            </a:solidFill>
            <a:prstDash val="solid"/>
          </a:ln>
          <a:effectLst>
            <a:outerShdw sx="100000" sy="100000" kx="0" ky="0" algn="bl" rotWithShape="0" blurRad="76200" dist="25400" dir="5400000">
              <a:srgbClr val="9AA5C7">
                <a:alpha val="30000"/>
              </a:srgbClr>
            </a:outerShdw>
          </a:effectLst>
        </p:spPr>
      </p:sp>
      <p:sp>
        <p:nvSpPr>
          <p:cNvPr id="15" name="Text 13"/>
          <p:cNvSpPr txBox="1"/>
          <p:nvPr/>
        </p:nvSpPr>
        <p:spPr>
          <a:xfrm>
            <a:off x="6537960" y="1920240"/>
            <a:ext cx="4846320" cy="320040"/>
          </a:xfrm>
          <a:prstGeom prst="rect">
            <a:avLst/>
          </a:prstGeom>
          <a:noFill/>
          <a:ln/>
        </p:spPr>
        <p:txBody>
          <a:bodyPr wrap="square" rtlCol="0" anchor="ctr"/>
          <a:lstStyle/>
          <a:p>
            <a:pPr indent="0" marL="0">
              <a:buNone/>
            </a:pPr>
            <a:r>
              <a:rPr lang="en-US" sz="1200" b="1" spc="150" kern="0" dirty="0">
                <a:solidFill>
                  <a:srgbClr val="1E2761"/>
                </a:solidFill>
                <a:latin typeface="Calibri" pitchFamily="34" charset="0"/>
                <a:ea typeface="Calibri" pitchFamily="34" charset="-122"/>
                <a:cs typeface="Calibri" pitchFamily="34" charset="-120"/>
              </a:rPr>
              <a:t>FUTURE RECOMMENDATIONS</a:t>
            </a:r>
            <a:endParaRPr lang="en-US" sz="1200" dirty="0"/>
          </a:p>
        </p:txBody>
      </p:sp>
      <p:sp>
        <p:nvSpPr>
          <p:cNvPr id="16" name="Text 14"/>
          <p:cNvSpPr txBox="1"/>
          <p:nvPr/>
        </p:nvSpPr>
        <p:spPr>
          <a:xfrm>
            <a:off x="6537960" y="2377440"/>
            <a:ext cx="4846320" cy="3108960"/>
          </a:xfrm>
          <a:prstGeom prst="rect">
            <a:avLst/>
          </a:prstGeom>
          <a:noFill/>
          <a:ln/>
        </p:spPr>
        <p:txBody>
          <a:bodyPr wrap="square" rtlCol="0" anchor="ctr"/>
          <a:lstStyle/>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Recurring in-house + third-party security audits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Ongoing, role-specific security training</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Every new asset joins the Zero Trust model on day one</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Regular incident-response drills</a:t>
            </a:r>
            <a:endParaRPr lang="en-US" sz="1250" dirty="0"/>
          </a:p>
          <a:p>
            <a:pPr marL="342900" indent="-342900">
              <a:spcAft>
                <a:spcPts val="1000"/>
              </a:spcAft>
              <a:buSzPct val="100000"/>
              <a:buChar char="•"/>
            </a:pPr>
            <a:r>
              <a:rPr lang="en-US" sz="1250" dirty="0">
                <a:solidFill>
                  <a:srgbClr val="1A1A1A"/>
                </a:solidFill>
                <a:latin typeface="Calibri" pitchFamily="34" charset="0"/>
                <a:ea typeface="Calibri" pitchFamily="34" charset="-122"/>
                <a:cs typeface="Calibri" pitchFamily="34" charset="-120"/>
              </a:rPr>
              <a:t>Close the remaining non-SSO application gap</a:t>
            </a:r>
            <a:endParaRPr lang="en-US" sz="1250" dirty="0"/>
          </a:p>
        </p:txBody>
      </p:sp>
      <p:sp>
        <p:nvSpPr>
          <p:cNvPr id="17" name="Text 15"/>
          <p:cNvSpPr txBox="1"/>
          <p:nvPr/>
        </p:nvSpPr>
        <p:spPr>
          <a:xfrm>
            <a:off x="457200" y="6473952"/>
            <a:ext cx="73152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FinSecure Technologies Inc. — Network Security Capstone</a:t>
            </a:r>
            <a:endParaRPr lang="en-US" sz="900" dirty="0"/>
          </a:p>
        </p:txBody>
      </p:sp>
      <p:sp>
        <p:nvSpPr>
          <p:cNvPr id="18" name="Text 16"/>
          <p:cNvSpPr txBox="1"/>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463040"/>
            <a:ext cx="4114800" cy="4114800"/>
          </a:xfrm>
          <a:prstGeom prst="ellipse">
            <a:avLst/>
          </a:prstGeom>
          <a:solidFill>
            <a:srgbClr val="3B4A9E">
              <a:alpha val="55000"/>
            </a:srgbClr>
          </a:solidFill>
          <a:ln/>
        </p:spPr>
      </p:sp>
      <p:sp>
        <p:nvSpPr>
          <p:cNvPr id="3" name="Shape 1"/>
          <p:cNvSpPr/>
          <p:nvPr/>
        </p:nvSpPr>
        <p:spPr>
          <a:xfrm>
            <a:off x="9875520" y="4389120"/>
            <a:ext cx="3657600" cy="3657600"/>
          </a:xfrm>
          <a:prstGeom prst="ellipse">
            <a:avLst/>
          </a:prstGeom>
          <a:solidFill>
            <a:srgbClr val="3B4A9E">
              <a:alpha val="50000"/>
            </a:srgbClr>
          </a:solidFill>
          <a:ln/>
        </p:spPr>
      </p:sp>
      <p:sp>
        <p:nvSpPr>
          <p:cNvPr id="4" name="Text 2"/>
          <p:cNvSpPr txBox="1"/>
          <p:nvPr/>
        </p:nvSpPr>
        <p:spPr>
          <a:xfrm>
            <a:off x="822960" y="2103120"/>
            <a:ext cx="10058400" cy="10058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3"/>
          <p:cNvSpPr txBox="1"/>
          <p:nvPr/>
        </p:nvSpPr>
        <p:spPr>
          <a:xfrm>
            <a:off x="822960" y="3063240"/>
            <a:ext cx="1005840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6" name="Shape 4"/>
          <p:cNvSpPr/>
          <p:nvPr/>
        </p:nvSpPr>
        <p:spPr>
          <a:xfrm>
            <a:off x="822960" y="4114800"/>
            <a:ext cx="7772400" cy="1600200"/>
          </a:xfrm>
          <a:prstGeom prst="rect">
            <a:avLst>
              <a:gd name="adj" fmla="val 4571"/>
            </a:avLst>
          </a:prstGeom>
          <a:solidFill>
            <a:srgbClr val="3B4A9E">
              <a:alpha val="70000"/>
            </a:srgbClr>
          </a:solidFill>
          <a:ln/>
        </p:spPr>
      </p:sp>
      <p:sp>
        <p:nvSpPr>
          <p:cNvPr id="7" name="Text 5"/>
          <p:cNvSpPr txBox="1"/>
          <p:nvPr/>
        </p:nvSpPr>
        <p:spPr>
          <a:xfrm>
            <a:off x="1051560" y="4251960"/>
            <a:ext cx="7315200" cy="137160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Group 3</a:t>
            </a:r>
            <a:endParaRPr lang="en-US" sz="1250" dirty="0"/>
          </a:p>
          <a:p>
            <a:pPr indent="0" marL="0">
              <a:buNone/>
            </a:pPr>
            <a:r>
              <a:rPr lang="en-US" sz="1250" dirty="0">
                <a:solidFill>
                  <a:srgbClr val="CADCFC"/>
                </a:solidFill>
                <a:latin typeface="Calibri" pitchFamily="34" charset="0"/>
                <a:ea typeface="Calibri" pitchFamily="34" charset="-122"/>
                <a:cs typeface="Calibri" pitchFamily="34" charset="-120"/>
              </a:rPr>
              <a:t>Case Studies, Issues &amp; Capstone Project in Network Security</a:t>
            </a:r>
            <a:endParaRPr lang="en-US" sz="1250" dirty="0"/>
          </a:p>
          <a:p>
            <a:pPr indent="0" marL="0">
              <a:buNone/>
            </a:pPr>
            <a:r>
              <a:rPr lang="en-US" sz="1250" dirty="0">
                <a:solidFill>
                  <a:srgbClr val="CADCFC"/>
                </a:solidFill>
                <a:latin typeface="Calibri" pitchFamily="34" charset="0"/>
                <a:ea typeface="Calibri" pitchFamily="34" charset="-122"/>
                <a:cs typeface="Calibri" pitchFamily="34" charset="-120"/>
              </a:rPr>
              <a:t>University of Winnipeg · Prof. Victor Balogun · Fall 2024</a:t>
            </a:r>
            <a:endParaRPr lang="en-US" sz="1250" dirty="0"/>
          </a:p>
          <a:p>
            <a:pPr indent="0" marL="0">
              <a:buNone/>
            </a:pPr>
            <a:r>
              <a:rPr lang="en-US" sz="1250" i="1" dirty="0">
                <a:solidFill>
                  <a:srgbClr val="CADCFC"/>
                </a:solidFill>
                <a:latin typeface="Calibri" pitchFamily="34" charset="0"/>
                <a:ea typeface="Calibri" pitchFamily="34" charset="-122"/>
                <a:cs typeface="Calibri" pitchFamily="34" charset="-120"/>
              </a:rPr>
              <a:t>Network Security Analysis section &amp; this rebuild: Muhammed Abdulmalik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2026-09-12T20:12:10Z</dcterms:created>
  <dcterms:modified xsi:type="dcterms:W3CDTF">2026-09-12T20:12:10Z</dcterms:modified>
</cp:coreProperties>
</file>